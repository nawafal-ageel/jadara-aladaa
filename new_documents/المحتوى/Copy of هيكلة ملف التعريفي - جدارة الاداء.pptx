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ab137f1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ab137f1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ab137f15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ab137f15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b137f15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ab137f15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ab137f15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ab137f15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ab137f15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ab137f15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ab137f15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ab137f15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ab137f15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ab137f15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ab137f15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ab137f15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ab137f15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ab137f15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ab137f15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ab137f15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ab137f15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ab137f15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ab137f15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ab137f15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ab137f15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ab137f15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ab137f15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ab137f15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ab137f15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ab137f15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ab137f15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ab137f15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ab137f15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ab137f15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غلاف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جدارة الأداء</a:t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قيادة التحول. تعزيز الأداء. تحقيق الأثر.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Driving Transformation. Enabling Performance. Delivering Impact.</a:t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بيانات التواصل: الايميل - رقم الجوال - المقر - الموقع الالكتروني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جدارة </a:t>
            </a:r>
            <a:r>
              <a:rPr lang="en"/>
              <a:t>الأداء</a:t>
            </a:r>
            <a:r>
              <a:rPr lang="en"/>
              <a:t> </a:t>
            </a:r>
            <a:r>
              <a:rPr lang="en"/>
              <a:t>بالأرقام</a:t>
            </a:r>
            <a:r>
              <a:rPr lang="en"/>
              <a:t>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+100 استراتيجية مؤسسية تم تطويرها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+450 دليل تنظيمي وتشغيلي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+200 تقييم مؤسسي شامل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+45 مشروع تحول استراتيجي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+20 تأسيس مكتب إدارة مشاريع (PMO)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+4000 قيادي تم تطويره وتأهيله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+500 ورشة عمل وبرنامج احترافي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تمثل هذه المؤشرات سجلًا عمليًا في قيادة مشاريع تطوير وتحول مؤسسي عبر قطاعات متعددة.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من نحن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جدارة الأداء شركة استشارية متخصصة في التحول المؤسسي وتمكين القيادات وتطوير منظومات الأداء. نعمل بالشراكة مع </a:t>
            </a:r>
            <a:r>
              <a:rPr lang="en" sz="1600">
                <a:solidFill>
                  <a:schemeClr val="dk1"/>
                </a:solidFill>
              </a:rPr>
              <a:t>الجهات شبه الحكومية والشركات الخاصة</a:t>
            </a:r>
            <a:r>
              <a:rPr lang="en" sz="1600">
                <a:solidFill>
                  <a:schemeClr val="dk1"/>
                </a:solidFill>
              </a:rPr>
              <a:t> لتصميم وتنفيذ حلول استراتيجية وتنظيمية متكاملة تسهم في رفع كفاءة الأداء وتعزيز القدرة التنافسية.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نرتكز في أعمالنا على معالجة التحديات التنظيمية من جذورها عبر تدخلات منهجية تشمل </a:t>
            </a:r>
            <a:r>
              <a:rPr lang="en" sz="1600">
                <a:solidFill>
                  <a:schemeClr val="dk1"/>
                </a:solidFill>
              </a:rPr>
              <a:t>الاستراتيجية، والهيكل التنظيمي، والعمليات، والحوكمة، والقيادة،</a:t>
            </a:r>
            <a:r>
              <a:rPr lang="en" sz="1600">
                <a:solidFill>
                  <a:schemeClr val="dk1"/>
                </a:solidFill>
              </a:rPr>
              <a:t> مستندين إلى أفضل الممارسات العالمية مع مواءمة دقيقة للسياق المحلي.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الرؤية والرسالة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رؤيتنا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أن نكون شريكًا استراتيجيًا موثوقًا في تطوير الأداء المؤسسي وتمكين القيادات، عبر حلول منهجية قائمة على القياس والاستدامة.</a:t>
            </a:r>
            <a:endParaRPr sz="14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رسالتنا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نعمل بالشراكة مع الجهات لقيادة تحول مؤسسي فعّال من خلال تصميم وتنفيذ حلول استراتيجية متكاملة تربط القيادة بالحوكمة والعمليات وإدارة الأداء.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تمكين مستدام</a:t>
            </a:r>
            <a:endParaRPr sz="14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نصمم تدخلاتنا بما يضمن بناء قدرات داخلية طويلة الأمد تمكّن الجهات من إدارة أدائها وتحسينه بصورة مستقلة.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رؤى ملهمة</a:t>
            </a:r>
            <a:endParaRPr sz="14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نستند إلى تحليل عميق وفهم استراتيجي لتقديم رؤى تساعد الجهات على اتخاذ قرارات مدروسة وتعزيز توجهها المستقبلي.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ابتكار وتجديد</a:t>
            </a:r>
            <a:endParaRPr sz="14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نطوّر حلولًا منهجية متجددة تستجيب لتغيرات البيئة التنظيمية وتواكب أفضل الممارسات العالمية.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دافعية وإنجاز</a:t>
            </a:r>
            <a:endParaRPr sz="14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نرسّخ ثقافة قائمة على الالتزام والنتائج ونعمل على تحويل الأهداف إلى مخرجات قابلة للقياس.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1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جودة وتميّز</a:t>
            </a:r>
            <a:endParaRPr sz="14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نلتزم بمعايير عالية في جميع مراحل العمل ونحرص على تقديم مخرجات تتسم بالدقة والاحترافية.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180900"/>
            <a:ext cx="85206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القيم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/>
              <a:t>نؤمن بأن القيم المؤسسية تمثل الأساس الذي يُبنى عليه النجاح والاستدامة، وهي الإطار الذي يوجّه قراراتنا ومنهجيتنا في العمل.</a:t>
            </a:r>
            <a:endParaRPr sz="175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b="1" lang="en" sz="2750"/>
              <a:t>السياق والتحديات التي نعالجها</a:t>
            </a:r>
            <a:endParaRPr b="1" sz="2750"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/>
              <a:t>واجه الجهات اليوم تحديات مؤسسية متزايدة تشمل:</a:t>
            </a:r>
            <a:endParaRPr sz="13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ضعف مواءمة الاستراتيجية مع التنفيذ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تداخل الأدوار والصلاحيات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انخفاض كفاءة العمليات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الحاجة إلى تعزيز الحوكمة والامتثال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تعقيد برامج التحول المؤسسي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محدودية جاهزية القيادات لإدارة التغيير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نصمم تدخلاتنا لمعالجة هذه التحديات بصورة متكاملة تضمن رفع مستوى النضج المؤسسي وتحقيق نتائج قابلة للقياس.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نطاق خدماتنا 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تمر المنظمات بمراحل متعددة تتطلب تدخلات عالية التأثير.</a:t>
            </a:r>
            <a:br>
              <a:rPr lang="en" sz="1600"/>
            </a:br>
            <a:r>
              <a:rPr lang="en" sz="1600"/>
              <a:t> في جدارة الأداء نقدم مسارين متكاملة:</a:t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285750" lvl="0" marL="45720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/>
              <a:t>التمكين القيادي </a:t>
            </a:r>
            <a:endParaRPr sz="1600"/>
          </a:p>
          <a:p>
            <a:pPr indent="-28575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600"/>
              <a:t>التمكين المؤسسي </a:t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248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التمكين القيادي</a:t>
            </a:r>
            <a:endParaRPr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نطوّر قيادات قادرة على قيادة التحول المؤسسي وإدارة التعقيد وصناعة القرار الاستراتيجي، مع التركيز على مواءمة الرؤية مع التنفيذ ورفع مستوى الأداء المؤسسي.</a:t>
            </a:r>
            <a:endParaRPr sz="11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05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252">
                <a:solidFill>
                  <a:schemeClr val="dk1"/>
                </a:solidFill>
              </a:rPr>
              <a:t>يشمل نطاق العمل:</a:t>
            </a:r>
            <a:endParaRPr b="1" sz="1252">
              <a:solidFill>
                <a:schemeClr val="dk1"/>
              </a:solidFill>
            </a:endParaRPr>
          </a:p>
          <a:p>
            <a:pPr indent="-308133" lvl="0" marL="45720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" sz="1252">
                <a:solidFill>
                  <a:schemeClr val="dk1"/>
                </a:solidFill>
              </a:rPr>
              <a:t>التقييم والتشخيص القيادي باستخدام أدوات تحليل متقدمة</a:t>
            </a:r>
            <a:endParaRPr sz="1252">
              <a:solidFill>
                <a:schemeClr val="dk1"/>
              </a:solidFill>
            </a:endParaRPr>
          </a:p>
          <a:p>
            <a:pPr indent="-308133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" sz="1252">
                <a:solidFill>
                  <a:schemeClr val="dk1"/>
                </a:solidFill>
              </a:rPr>
              <a:t>تصميم برامج تطوير قيادات مخصصة وفق احتياجات الجهة</a:t>
            </a:r>
            <a:endParaRPr sz="1252">
              <a:solidFill>
                <a:schemeClr val="dk1"/>
              </a:solidFill>
            </a:endParaRPr>
          </a:p>
          <a:p>
            <a:pPr indent="-308133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" sz="1252">
                <a:solidFill>
                  <a:schemeClr val="dk1"/>
                </a:solidFill>
              </a:rPr>
              <a:t>الإرشاد التنفيذي للقيادات العليا</a:t>
            </a:r>
            <a:endParaRPr sz="1252">
              <a:solidFill>
                <a:schemeClr val="dk1"/>
              </a:solidFill>
            </a:endParaRPr>
          </a:p>
          <a:p>
            <a:pPr indent="-308133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" sz="1252">
                <a:solidFill>
                  <a:schemeClr val="dk1"/>
                </a:solidFill>
              </a:rPr>
              <a:t>بناء مسارات قيادية تخصصية بحسب المستويات الوظيفية</a:t>
            </a:r>
            <a:endParaRPr sz="1252">
              <a:solidFill>
                <a:schemeClr val="dk1"/>
              </a:solidFill>
            </a:endParaRPr>
          </a:p>
          <a:p>
            <a:pPr indent="-308133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" sz="1252">
                <a:solidFill>
                  <a:schemeClr val="dk1"/>
                </a:solidFill>
              </a:rPr>
              <a:t>تطوير قدرات اتخاذ القرار في البيئات عالية التغير</a:t>
            </a:r>
            <a:endParaRPr sz="1252">
              <a:solidFill>
                <a:schemeClr val="dk1"/>
              </a:solidFill>
            </a:endParaRPr>
          </a:p>
          <a:p>
            <a:pPr indent="-308133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" sz="1252">
                <a:solidFill>
                  <a:schemeClr val="dk1"/>
                </a:solidFill>
              </a:rPr>
              <a:t>ربط الأداء القيادي بمؤشرات الأداء المؤسسي</a:t>
            </a:r>
            <a:endParaRPr sz="1252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252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252">
                <a:solidFill>
                  <a:schemeClr val="dk1"/>
                </a:solidFill>
              </a:rPr>
              <a:t>الأثر المتوقع:</a:t>
            </a:r>
            <a:endParaRPr b="1" sz="1252">
              <a:solidFill>
                <a:schemeClr val="dk1"/>
              </a:solidFill>
            </a:endParaRPr>
          </a:p>
          <a:p>
            <a:pPr indent="-308133" lvl="0" marL="45720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" sz="1252">
                <a:solidFill>
                  <a:schemeClr val="dk1"/>
                </a:solidFill>
              </a:rPr>
              <a:t>رفع فاعلية القيادات التنفيذية</a:t>
            </a:r>
            <a:endParaRPr sz="1252">
              <a:solidFill>
                <a:schemeClr val="dk1"/>
              </a:solidFill>
            </a:endParaRPr>
          </a:p>
          <a:p>
            <a:pPr indent="-308133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" sz="1252">
                <a:solidFill>
                  <a:schemeClr val="dk1"/>
                </a:solidFill>
              </a:rPr>
              <a:t>تحسين جودة القرارات الاستراتيجية</a:t>
            </a:r>
            <a:endParaRPr sz="1252">
              <a:solidFill>
                <a:schemeClr val="dk1"/>
              </a:solidFill>
            </a:endParaRPr>
          </a:p>
          <a:p>
            <a:pPr indent="-308133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3"/>
              <a:buChar char="●"/>
            </a:pPr>
            <a:r>
              <a:rPr lang="en" sz="1252">
                <a:solidFill>
                  <a:schemeClr val="dk1"/>
                </a:solidFill>
              </a:rPr>
              <a:t>تعزيز ثقافة المساءلة والنتائج</a:t>
            </a:r>
            <a:endParaRPr sz="125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185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b="1" lang="en" sz="2750"/>
              <a:t>التمكين المؤسسي</a:t>
            </a:r>
            <a:endParaRPr b="1" sz="2750"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نركّز على بناء منظومة مؤسسية متكاملة تدعم الاستراتيجية وتعزز كفاءة التشغيل، بهدف رفع مستوى النضج التنظيمي وتحقيق وضوح هيكلي وتشغيلي مستدام.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05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087">
                <a:solidFill>
                  <a:schemeClr val="dk1"/>
                </a:solidFill>
              </a:rPr>
              <a:t>يشمل نطاق العمل:</a:t>
            </a:r>
            <a:endParaRPr b="1"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تطوير الاستراتيجيات وربطها بخطط تنفيذية واضحة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تصميم نموذج التشغيل المستهدف (Target Operating Model)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إعادة تصميم الهياكل التنظيمية وتعريف الأدوار والصلاحيات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تطوير أنظمة الحوكمة والرقابة وإدارة المخاطر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تأسيس مكاتب إدارة المشاريع (PMO)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إعداد السياسات والإجراءات والأدلة التنظيمية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تطوير منظومة مؤشرات الأداء المؤسسي</a:t>
            </a:r>
            <a:endParaRPr sz="1087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087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" sz="1087">
                <a:solidFill>
                  <a:schemeClr val="dk1"/>
                </a:solidFill>
              </a:rPr>
              <a:t>الأثر المتوقع</a:t>
            </a:r>
            <a:r>
              <a:rPr b="1" lang="en" sz="1087">
                <a:solidFill>
                  <a:schemeClr val="dk1"/>
                </a:solidFill>
              </a:rPr>
              <a:t>:</a:t>
            </a:r>
            <a:endParaRPr b="1"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وضوح تنظيمي وتقليل الازدواجية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رفع كفاءة العمليات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rtl="1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تسريع تنفيذ المبادرات الاستراتيجية</a:t>
            </a:r>
            <a:endParaRPr sz="1087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238975"/>
            <a:ext cx="8520600" cy="46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87">
                <a:solidFill>
                  <a:schemeClr val="dk1"/>
                </a:solidFill>
              </a:rPr>
              <a:t>يشمل نطاق العمل: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إعادة الهيكلة التنظيمية بناءً على تحليل الفجوات ومواءمة الأدوار مع الاستراتيجية.</a:t>
            </a:r>
            <a:br>
              <a:rPr lang="en" sz="1087">
                <a:solidFill>
                  <a:schemeClr val="dk1"/>
                </a:solidFill>
              </a:rPr>
            </a:b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إعادة تصميم العمليات التشغيلية لرفع الكفاءة وتقليل التعقيد والهدر.</a:t>
            </a:r>
            <a:br>
              <a:rPr lang="en" sz="1087">
                <a:solidFill>
                  <a:schemeClr val="dk1"/>
                </a:solidFill>
              </a:rPr>
            </a:b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تحسين الكفاءة التشغيلية وترشيد الموارد ورفع الإنتاجية.</a:t>
            </a:r>
            <a:br>
              <a:rPr lang="en" sz="1087">
                <a:solidFill>
                  <a:schemeClr val="dk1"/>
                </a:solidFill>
              </a:rPr>
            </a:b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إدارة برامج التحول المؤسسي وضمان تكامل المبادرات.</a:t>
            </a:r>
            <a:br>
              <a:rPr lang="en" sz="1087">
                <a:solidFill>
                  <a:schemeClr val="dk1"/>
                </a:solidFill>
              </a:rPr>
            </a:b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تطوير أطر الحوكمة وإدارة المخاطر وتعزيز الامتثال المؤسسي.</a:t>
            </a:r>
            <a:br>
              <a:rPr lang="en" sz="1087">
                <a:solidFill>
                  <a:schemeClr val="dk1"/>
                </a:solidFill>
              </a:rPr>
            </a:b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بناء أنظمة إدارة الأداء وربطها بالأهداف الاستراتيجية.</a:t>
            </a:r>
            <a:br>
              <a:rPr lang="en" sz="1087">
                <a:solidFill>
                  <a:schemeClr val="dk1"/>
                </a:solidFill>
              </a:rPr>
            </a:b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تمكين القيادات عبر منصات تفاعلية ومحاكاة واقعية مدعومة بالذكاء الاصطناعي لتعزيز جودة وسرعة اتخاذ القرار.</a:t>
            </a:r>
            <a:endParaRPr sz="1087">
              <a:solidFill>
                <a:schemeClr val="dk1"/>
              </a:solidFill>
            </a:endParaRPr>
          </a:p>
          <a:p>
            <a:pPr indent="0" lvl="0" marL="0" marR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87">
                <a:solidFill>
                  <a:schemeClr val="dk1"/>
                </a:solidFill>
              </a:rPr>
              <a:t>الأثر المتوقع</a:t>
            </a: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تحسّن ملموس في الكفاءة التشغيلية.</a:t>
            </a:r>
            <a:br>
              <a:rPr lang="en" sz="1087">
                <a:solidFill>
                  <a:schemeClr val="dk1"/>
                </a:solidFill>
              </a:rPr>
            </a:b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رفع القدرة التنافسية للجهة.</a:t>
            </a:r>
            <a:br>
              <a:rPr lang="en" sz="1087">
                <a:solidFill>
                  <a:schemeClr val="dk1"/>
                </a:solidFill>
              </a:rPr>
            </a:b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تطوير قدرات القيادات في اتخاذ القرار.</a:t>
            </a:r>
            <a:br>
              <a:rPr lang="en" sz="1087">
                <a:solidFill>
                  <a:schemeClr val="dk1"/>
                </a:solidFill>
              </a:rPr>
            </a:br>
            <a:endParaRPr sz="1087">
              <a:solidFill>
                <a:schemeClr val="dk1"/>
              </a:solidFill>
            </a:endParaRPr>
          </a:p>
          <a:p>
            <a:pPr indent="-297656" lvl="0" marL="457200" marR="0" rtl="1" algn="r">
              <a:lnSpc>
                <a:spcPct val="6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8"/>
              <a:buChar char="●"/>
            </a:pPr>
            <a:r>
              <a:rPr lang="en" sz="1087">
                <a:solidFill>
                  <a:schemeClr val="dk1"/>
                </a:solidFill>
              </a:rPr>
              <a:t>تعزيز الاستقرار المؤسسي على المدى الطويل.</a:t>
            </a:r>
            <a:endParaRPr sz="1087">
              <a:solidFill>
                <a:schemeClr val="dk1"/>
              </a:solidFill>
            </a:endParaRPr>
          </a:p>
        </p:txBody>
      </p:sp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185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750"/>
              <a:t>حلول الاعمال</a:t>
            </a:r>
            <a:endParaRPr sz="1100"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نقود مشاريع التحول المؤسسي التي تتطلب تدخلًا استراتيجيًا وهيكليًا وتشغيليًا متكاملًا، مع التركيز على نقل الجهة إلى نموذج أداء أكثر كفاءة واستدامة.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منهجيتنا</a:t>
            </a:r>
            <a:endParaRPr b="1" sz="1700"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نعتمد إطارًا تنفيذيًا واضحًا يتكون من أربع مراحل:</a:t>
            </a:r>
            <a:endParaRPr sz="1100"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1. التشخيص والتحليل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2. التصميم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3. التنفيذ وإدارة التغيير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4. قياس الأثر والتحسين المستمر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يتم تحديد مؤشرات النجاح منذ بداية المشروع وربطها بمخرجات واضحة لضمان تحقيق النتائج.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فريق العمل</a:t>
            </a:r>
            <a:endParaRPr b="1" sz="1700"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/>
              <a:t>يمتلك أعضاء الفريق خبرة عملية في تنفيذ مشاريع تحول مع جهات حكومية وشركات كبرى، ويعملون بأسلوب تكاملي يجمع بين التحليل الاستراتيجي والخبرة التطبيقية لضمان واقعية الحلول وقابليتها للتنفيذ.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>
                <a:solidFill>
                  <a:schemeClr val="dk1"/>
                </a:solidFill>
              </a:rPr>
              <a:t>معلومات فريق العمل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الفريق الاستشاري</a:t>
            </a:r>
            <a:endParaRPr b="1" sz="1700"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يتكون الفريق الاستشاري من خبراء متخصصين في تصميم الاستراتيجيات المؤسسية، إعادة الهيكلة، إدارة التحول، الحوكمة وإدارة المخاطر، تطوير رأس المال البشري، وإدارة الأداء.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>
                <a:solidFill>
                  <a:schemeClr val="dk1"/>
                </a:solidFill>
              </a:rPr>
              <a:t>معلومات الفريق الاستشاري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عملاؤنا</a:t>
            </a:r>
            <a:endParaRPr b="1" sz="1700"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نفخر في جدارة الأداء بثقة نخبة من الجهات الحكومية، وشبه الحكومية، والقطاع الخاص، والقطاع غير الربحي، حيث ساهمنا في تطوير أدائهم المؤسسي وتعزيز قدراتهم القيادية.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>
                <a:solidFill>
                  <a:schemeClr val="dk1"/>
                </a:solidFill>
              </a:rPr>
              <a:t>شعارات العملاء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دراسة الحالة</a:t>
            </a:r>
            <a:endParaRPr b="1" sz="1700"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/>
              <a:t>عمل فريقنا مع نخبة من الجهات الحكومية، وشبه الحكومية، والقطاع الخاص، والقطاع غير الربحي، وساهم في تنفيذ مشاريع تطوير مؤسسي وقيادي أحدثت أثرًا ملموسًا ومستدامًا.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solidFill>
                  <a:schemeClr val="dk1"/>
                </a:solidFill>
              </a:rPr>
              <a:t>القطاع:</a:t>
            </a:r>
            <a:endParaRPr sz="1055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solidFill>
                  <a:schemeClr val="dk1"/>
                </a:solidFill>
              </a:rPr>
              <a:t>حجم الجهة:</a:t>
            </a:r>
            <a:endParaRPr sz="1055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solidFill>
                  <a:schemeClr val="dk1"/>
                </a:solidFill>
              </a:rPr>
              <a:t>التحدي:</a:t>
            </a:r>
            <a:endParaRPr sz="1055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solidFill>
                  <a:schemeClr val="dk1"/>
                </a:solidFill>
              </a:rPr>
              <a:t>التدخل الاستشاري:</a:t>
            </a:r>
            <a:endParaRPr sz="1055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solidFill>
                  <a:schemeClr val="dk1"/>
                </a:solidFill>
              </a:rPr>
              <a:t>النتائج المحققة:</a:t>
            </a:r>
            <a:endParaRPr sz="1055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i="1" sz="1055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b="1" i="1" sz="1055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i="1" lang="en" sz="1055">
                <a:solidFill>
                  <a:schemeClr val="dk1"/>
                </a:solidFill>
              </a:rPr>
              <a:t>كل دراسة لها صفحة</a:t>
            </a:r>
            <a:endParaRPr sz="72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05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54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/>
              <a:t>موقعنا التنافسي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2007225"/>
            <a:ext cx="8520600" cy="25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عمق استشاري مقرون بتنفيذ فعلي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خبرة مثبتة في مشاريع التحول المعقدة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تركيز واضح على قياس الأثر وربط الجهد بالنتيجة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فهم دقيق لبيئة العمل في القطاع شبه الحكومي والخاص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التزام صارم بالحوكمة المهنية والسرية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غلاف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جدارة الأداء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Strategic Advisory &amp; Institutional Transformation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نعمل مع شركائنا على تصميم وتنفيذ حلول مؤسسية متكاملة تربط الاستراتيجية بالتنفيذ، وتعزز جاهزية القيادات، وترفع كفاءة الأداء ضمن إطار منهجي قائم على القياس والاستدامة.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بيانات التواصل: الايميل - رقم الجوال - المقر - الموقع الالكتروني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