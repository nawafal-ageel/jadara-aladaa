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cab137f1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cab137f1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ab137f15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ab137f15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ab137f155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ab137f155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ab137f15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ab137f15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c2855de3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cc2855de3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ab137f15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ab137f15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ab137f155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ab137f15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ab137f15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ab137f15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9561b5fef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9561b5fef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561b5fef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9561b5fef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cab137f15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cab137f15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9561b5fef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9561b5fef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9561b5fef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9561b5fef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ab137f155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ab137f155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ab137f15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cab137f15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ab137f155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ab137f155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ab137f155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cab137f155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ab137f155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ab137f155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ctr">
              <a:spcBef>
                <a:spcPts val="0"/>
              </a:spcBef>
              <a:spcAft>
                <a:spcPts val="0"/>
              </a:spcAft>
              <a:buNone/>
            </a:pPr>
            <a:r>
              <a:rPr lang="en"/>
              <a:t>غلاف</a:t>
            </a:r>
            <a:endParaRPr/>
          </a:p>
        </p:txBody>
      </p:sp>
      <p:sp>
        <p:nvSpPr>
          <p:cNvPr id="55" name="Google Shape;55;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en" sz="1600"/>
              <a:t>جدارة الأداء</a:t>
            </a:r>
            <a:endParaRPr sz="1600"/>
          </a:p>
          <a:p>
            <a:pPr indent="0" lvl="0" marL="0" rtl="1" algn="r">
              <a:spcBef>
                <a:spcPts val="1200"/>
              </a:spcBef>
              <a:spcAft>
                <a:spcPts val="0"/>
              </a:spcAft>
              <a:buNone/>
            </a:pPr>
            <a:r>
              <a:t/>
            </a:r>
            <a:endParaRPr sz="1600"/>
          </a:p>
          <a:p>
            <a:pPr indent="0" lvl="0" marL="0" rtl="1" algn="r">
              <a:spcBef>
                <a:spcPts val="1200"/>
              </a:spcBef>
              <a:spcAft>
                <a:spcPts val="0"/>
              </a:spcAft>
              <a:buNone/>
            </a:pPr>
            <a:r>
              <a:rPr lang="en" sz="1600"/>
              <a:t>قيادة التحول. تعزيز الأداء. تحقيق الأثر.</a:t>
            </a:r>
            <a:endParaRPr sz="1600"/>
          </a:p>
          <a:p>
            <a:pPr indent="0" lvl="0" marL="0" rtl="0" algn="l">
              <a:spcBef>
                <a:spcPts val="1200"/>
              </a:spcBef>
              <a:spcAft>
                <a:spcPts val="0"/>
              </a:spcAft>
              <a:buNone/>
            </a:pPr>
            <a:r>
              <a:rPr lang="en" sz="1600"/>
              <a:t>Driving Transformation. Enabling Performance. Delivering Impact.</a:t>
            </a:r>
            <a:endParaRPr sz="1600"/>
          </a:p>
          <a:p>
            <a:pPr indent="0" lvl="0" marL="0" rtl="1" algn="r">
              <a:spcBef>
                <a:spcPts val="1200"/>
              </a:spcBef>
              <a:spcAft>
                <a:spcPts val="0"/>
              </a:spcAft>
              <a:buNone/>
            </a:pPr>
            <a:r>
              <a:t/>
            </a:r>
            <a:endParaRPr sz="1600"/>
          </a:p>
          <a:p>
            <a:pPr indent="0" lvl="0" marL="0" rtl="1" algn="r">
              <a:spcBef>
                <a:spcPts val="1200"/>
              </a:spcBef>
              <a:spcAft>
                <a:spcPts val="0"/>
              </a:spcAft>
              <a:buNone/>
            </a:pPr>
            <a:r>
              <a:t/>
            </a:r>
            <a:endParaRPr sz="1600"/>
          </a:p>
          <a:p>
            <a:pPr indent="0" lvl="0" marL="0" rtl="1" algn="r">
              <a:spcBef>
                <a:spcPts val="1200"/>
              </a:spcBef>
              <a:spcAft>
                <a:spcPts val="1200"/>
              </a:spcAft>
              <a:buNone/>
            </a:pPr>
            <a:r>
              <a:rPr lang="en" sz="1600"/>
              <a:t>بيانات التواصل: الايميل - رقم الجوال - المقر - الموقع الالكتروني</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جدارة </a:t>
            </a:r>
            <a:r>
              <a:rPr lang="en"/>
              <a:t>الأداء</a:t>
            </a:r>
            <a:r>
              <a:rPr lang="en"/>
              <a:t> </a:t>
            </a:r>
            <a:r>
              <a:rPr lang="en"/>
              <a:t>بالأرقام</a:t>
            </a:r>
            <a:r>
              <a:rPr lang="en"/>
              <a:t>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1" algn="r">
              <a:lnSpc>
                <a:spcPct val="105000"/>
              </a:lnSpc>
              <a:spcBef>
                <a:spcPts val="1200"/>
              </a:spcBef>
              <a:spcAft>
                <a:spcPts val="0"/>
              </a:spcAft>
              <a:buNone/>
            </a:pPr>
            <a:r>
              <a:rPr lang="en" sz="1600">
                <a:solidFill>
                  <a:schemeClr val="dk1"/>
                </a:solidFill>
              </a:rPr>
              <a:t>+100 استراتيجية مؤسسية تم تطويرها</a:t>
            </a:r>
            <a:endParaRPr sz="1600">
              <a:solidFill>
                <a:schemeClr val="dk1"/>
              </a:solidFill>
            </a:endParaRPr>
          </a:p>
          <a:p>
            <a:pPr indent="0" lvl="0" marL="0" rtl="1" algn="r">
              <a:lnSpc>
                <a:spcPct val="105000"/>
              </a:lnSpc>
              <a:spcBef>
                <a:spcPts val="1200"/>
              </a:spcBef>
              <a:spcAft>
                <a:spcPts val="0"/>
              </a:spcAft>
              <a:buNone/>
            </a:pPr>
            <a:r>
              <a:rPr lang="en" sz="1600">
                <a:solidFill>
                  <a:schemeClr val="dk1"/>
                </a:solidFill>
              </a:rPr>
              <a:t>+450 دليل تنظيمي وتشغيلي</a:t>
            </a:r>
            <a:endParaRPr sz="1600">
              <a:solidFill>
                <a:schemeClr val="dk1"/>
              </a:solidFill>
            </a:endParaRPr>
          </a:p>
          <a:p>
            <a:pPr indent="0" lvl="0" marL="0" rtl="1" algn="r">
              <a:lnSpc>
                <a:spcPct val="105000"/>
              </a:lnSpc>
              <a:spcBef>
                <a:spcPts val="1200"/>
              </a:spcBef>
              <a:spcAft>
                <a:spcPts val="0"/>
              </a:spcAft>
              <a:buNone/>
            </a:pPr>
            <a:r>
              <a:rPr lang="en" sz="1600">
                <a:solidFill>
                  <a:schemeClr val="dk1"/>
                </a:solidFill>
              </a:rPr>
              <a:t>+200 تقييم مؤسسي شامل</a:t>
            </a:r>
            <a:endParaRPr sz="1600">
              <a:solidFill>
                <a:schemeClr val="dk1"/>
              </a:solidFill>
            </a:endParaRPr>
          </a:p>
          <a:p>
            <a:pPr indent="0" lvl="0" marL="0" rtl="1" algn="r">
              <a:lnSpc>
                <a:spcPct val="105000"/>
              </a:lnSpc>
              <a:spcBef>
                <a:spcPts val="1200"/>
              </a:spcBef>
              <a:spcAft>
                <a:spcPts val="0"/>
              </a:spcAft>
              <a:buNone/>
            </a:pPr>
            <a:r>
              <a:rPr lang="en" sz="1600">
                <a:solidFill>
                  <a:schemeClr val="dk1"/>
                </a:solidFill>
              </a:rPr>
              <a:t>+45 مشروع تحول استراتيجي</a:t>
            </a:r>
            <a:endParaRPr sz="1600">
              <a:solidFill>
                <a:schemeClr val="dk1"/>
              </a:solidFill>
            </a:endParaRPr>
          </a:p>
          <a:p>
            <a:pPr indent="0" lvl="0" marL="0" rtl="1" algn="r">
              <a:lnSpc>
                <a:spcPct val="105000"/>
              </a:lnSpc>
              <a:spcBef>
                <a:spcPts val="1200"/>
              </a:spcBef>
              <a:spcAft>
                <a:spcPts val="0"/>
              </a:spcAft>
              <a:buNone/>
            </a:pPr>
            <a:r>
              <a:rPr lang="en" sz="1600">
                <a:solidFill>
                  <a:schemeClr val="dk1"/>
                </a:solidFill>
              </a:rPr>
              <a:t>+20 تأسيس مكتب إدارة مشاريع (PMO)</a:t>
            </a:r>
            <a:endParaRPr sz="1600">
              <a:solidFill>
                <a:schemeClr val="dk1"/>
              </a:solidFill>
            </a:endParaRPr>
          </a:p>
          <a:p>
            <a:pPr indent="0" lvl="0" marL="0" rtl="1" algn="r">
              <a:lnSpc>
                <a:spcPct val="105000"/>
              </a:lnSpc>
              <a:spcBef>
                <a:spcPts val="1200"/>
              </a:spcBef>
              <a:spcAft>
                <a:spcPts val="0"/>
              </a:spcAft>
              <a:buNone/>
            </a:pPr>
            <a:r>
              <a:rPr lang="en" sz="1600">
                <a:solidFill>
                  <a:schemeClr val="dk1"/>
                </a:solidFill>
              </a:rPr>
              <a:t>+4000 قيادي تم تطويره وتأهيله</a:t>
            </a:r>
            <a:endParaRPr sz="1600">
              <a:solidFill>
                <a:schemeClr val="dk1"/>
              </a:solidFill>
            </a:endParaRPr>
          </a:p>
          <a:p>
            <a:pPr indent="0" lvl="0" marL="0" rtl="1" algn="r">
              <a:lnSpc>
                <a:spcPct val="105000"/>
              </a:lnSpc>
              <a:spcBef>
                <a:spcPts val="1200"/>
              </a:spcBef>
              <a:spcAft>
                <a:spcPts val="0"/>
              </a:spcAft>
              <a:buNone/>
            </a:pPr>
            <a:r>
              <a:rPr lang="en" sz="1600">
                <a:solidFill>
                  <a:schemeClr val="dk1"/>
                </a:solidFill>
              </a:rPr>
              <a:t>+500 ورشة عمل وبرنامج احترافي</a:t>
            </a:r>
            <a:endParaRPr sz="1600">
              <a:solidFill>
                <a:schemeClr val="dk1"/>
              </a:solidFill>
            </a:endParaRPr>
          </a:p>
          <a:p>
            <a:pPr indent="0" lvl="0" marL="0" rtl="1" algn="r">
              <a:lnSpc>
                <a:spcPct val="105000"/>
              </a:lnSpc>
              <a:spcBef>
                <a:spcPts val="1200"/>
              </a:spcBef>
              <a:spcAft>
                <a:spcPts val="0"/>
              </a:spcAft>
              <a:buNone/>
            </a:pPr>
            <a:r>
              <a:t/>
            </a:r>
            <a:endParaRPr sz="1600">
              <a:solidFill>
                <a:schemeClr val="dk1"/>
              </a:solidFill>
            </a:endParaRPr>
          </a:p>
          <a:p>
            <a:pPr indent="0" lvl="0" marL="0" rtl="1" algn="r">
              <a:lnSpc>
                <a:spcPct val="105000"/>
              </a:lnSpc>
              <a:spcBef>
                <a:spcPts val="1200"/>
              </a:spcBef>
              <a:spcAft>
                <a:spcPts val="1200"/>
              </a:spcAft>
              <a:buClr>
                <a:schemeClr val="dk1"/>
              </a:buClr>
              <a:buSzPts val="1100"/>
              <a:buFont typeface="Arial"/>
              <a:buNone/>
            </a:pPr>
            <a:r>
              <a:rPr lang="en" sz="1600">
                <a:solidFill>
                  <a:schemeClr val="dk1"/>
                </a:solidFill>
              </a:rPr>
              <a:t>تمثل هذه المؤشرات سجلًا عمليًا في قيادة مشاريع تطوير وتحول مؤسسي عبر قطاعات متعددة.</a:t>
            </a:r>
            <a:endParaRPr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من نحن</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1200"/>
              </a:spcBef>
              <a:spcAft>
                <a:spcPts val="0"/>
              </a:spcAft>
              <a:buNone/>
            </a:pPr>
            <a:r>
              <a:t/>
            </a:r>
            <a:endParaRPr sz="1600">
              <a:solidFill>
                <a:schemeClr val="dk1"/>
              </a:solidFill>
            </a:endParaRPr>
          </a:p>
          <a:p>
            <a:pPr indent="0" lvl="0" marL="0" rtl="1" algn="r">
              <a:spcBef>
                <a:spcPts val="1200"/>
              </a:spcBef>
              <a:spcAft>
                <a:spcPts val="0"/>
              </a:spcAft>
              <a:buNone/>
            </a:pPr>
            <a:r>
              <a:rPr lang="en" sz="1600">
                <a:solidFill>
                  <a:schemeClr val="dk1"/>
                </a:solidFill>
              </a:rPr>
              <a:t>جدارة الأداء شركة استشارية متخصصة في التحول المؤسسي وتمكين القيادات وتطوير منظومات الأداء. نعمل بالشراكة مع مختلف القطاعات لتصميم وتنفيذ حلول استراتيجية وتنظيمية متكاملة تسهم في رفع كفاءة الأداء وتعزيز القدرة التنافسية.</a:t>
            </a:r>
            <a:endParaRPr sz="1600">
              <a:solidFill>
                <a:schemeClr val="dk1"/>
              </a:solidFill>
            </a:endParaRPr>
          </a:p>
          <a:p>
            <a:pPr indent="0" lvl="0" marL="0" rtl="1" algn="r">
              <a:spcBef>
                <a:spcPts val="1200"/>
              </a:spcBef>
              <a:spcAft>
                <a:spcPts val="0"/>
              </a:spcAft>
              <a:buNone/>
            </a:pPr>
            <a:r>
              <a:t/>
            </a:r>
            <a:endParaRPr sz="1600">
              <a:solidFill>
                <a:schemeClr val="dk1"/>
              </a:solidFill>
            </a:endParaRPr>
          </a:p>
          <a:p>
            <a:pPr indent="0" lvl="0" marL="0" rtl="1" algn="r">
              <a:spcBef>
                <a:spcPts val="1200"/>
              </a:spcBef>
              <a:spcAft>
                <a:spcPts val="0"/>
              </a:spcAft>
              <a:buNone/>
            </a:pPr>
            <a:r>
              <a:t/>
            </a:r>
            <a:endParaRPr sz="1600">
              <a:solidFill>
                <a:schemeClr val="dk1"/>
              </a:solidFill>
            </a:endParaRPr>
          </a:p>
          <a:p>
            <a:pPr indent="0" lvl="0" marL="0" rtl="1" algn="r">
              <a:spcBef>
                <a:spcPts val="1200"/>
              </a:spcBef>
              <a:spcAft>
                <a:spcPts val="1200"/>
              </a:spcAft>
              <a:buNone/>
            </a:pPr>
            <a:r>
              <a:rPr lang="en" sz="1600">
                <a:solidFill>
                  <a:schemeClr val="dk1"/>
                </a:solidFill>
              </a:rPr>
              <a:t>نرتكز في أعمالنا على معالجة التحديات المؤسسية من جذورها، عبر تدخلات متكاملة ومنهجية تهدف إلى رفع كفاءة الأداء، وتعزيز القدرة على التنفيذ، وتحقيق أثر مستدام يتلاءم مع طبيعة كل جهة وسياقها.</a:t>
            </a:r>
            <a:endParaRPr sz="16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الرؤية والرسالة</a:t>
            </a:r>
            <a:endParaRPr/>
          </a:p>
        </p:txBody>
      </p:sp>
      <p:sp>
        <p:nvSpPr>
          <p:cNvPr id="73" name="Google Shape;73;p16"/>
          <p:cNvSpPr txBox="1"/>
          <p:nvPr>
            <p:ph idx="1" type="body"/>
          </p:nvPr>
        </p:nvSpPr>
        <p:spPr>
          <a:xfrm>
            <a:off x="352450" y="1128025"/>
            <a:ext cx="8520600" cy="3416400"/>
          </a:xfrm>
          <a:prstGeom prst="rect">
            <a:avLst/>
          </a:prstGeom>
        </p:spPr>
        <p:txBody>
          <a:bodyPr anchorCtr="0" anchor="t" bIns="91425" lIns="91425" spcFirstLastPara="1" rIns="91425" wrap="square" tIns="91425">
            <a:normAutofit/>
          </a:bodyPr>
          <a:lstStyle/>
          <a:p>
            <a:pPr indent="0" lvl="0" marL="0" marR="0" rtl="1" algn="r">
              <a:lnSpc>
                <a:spcPct val="115000"/>
              </a:lnSpc>
              <a:spcBef>
                <a:spcPts val="1200"/>
              </a:spcBef>
              <a:spcAft>
                <a:spcPts val="0"/>
              </a:spcAft>
              <a:buClr>
                <a:schemeClr val="dk1"/>
              </a:buClr>
              <a:buSzPts val="1100"/>
              <a:buFont typeface="Arial"/>
              <a:buNone/>
            </a:pPr>
            <a:r>
              <a:rPr b="1" lang="en" sz="1600">
                <a:solidFill>
                  <a:schemeClr val="dk1"/>
                </a:solidFill>
              </a:rPr>
              <a:t>رؤيتنا</a:t>
            </a:r>
            <a:endParaRPr sz="1400">
              <a:solidFill>
                <a:schemeClr val="dk1"/>
              </a:solidFill>
            </a:endParaRPr>
          </a:p>
          <a:p>
            <a:pPr indent="0" lvl="0" marL="0" marR="0" rtl="1" algn="r">
              <a:lnSpc>
                <a:spcPct val="115000"/>
              </a:lnSpc>
              <a:spcBef>
                <a:spcPts val="1200"/>
              </a:spcBef>
              <a:spcAft>
                <a:spcPts val="0"/>
              </a:spcAft>
              <a:buNone/>
            </a:pPr>
            <a:r>
              <a:rPr lang="en" sz="1400">
                <a:solidFill>
                  <a:schemeClr val="dk1"/>
                </a:solidFill>
              </a:rPr>
              <a:t>أن نكون الشريك الأكثر ثقة واحترافية في بناء القدرات وتمكين القيادات وتطوير الأداء المؤسسي.</a:t>
            </a:r>
            <a:endParaRPr sz="1400">
              <a:solidFill>
                <a:schemeClr val="dk1"/>
              </a:solidFill>
            </a:endParaRPr>
          </a:p>
          <a:p>
            <a:pPr indent="0" lvl="0" marL="0" marR="0" rtl="1" algn="r">
              <a:lnSpc>
                <a:spcPct val="115000"/>
              </a:lnSpc>
              <a:spcBef>
                <a:spcPts val="1200"/>
              </a:spcBef>
              <a:spcAft>
                <a:spcPts val="0"/>
              </a:spcAft>
              <a:buNone/>
            </a:pPr>
            <a:r>
              <a:t/>
            </a:r>
            <a:endParaRPr sz="1400">
              <a:solidFill>
                <a:schemeClr val="dk1"/>
              </a:solidFill>
            </a:endParaRPr>
          </a:p>
          <a:p>
            <a:pPr indent="0" lvl="0" marL="0" rtl="1" algn="r">
              <a:spcBef>
                <a:spcPts val="1800"/>
              </a:spcBef>
              <a:spcAft>
                <a:spcPts val="0"/>
              </a:spcAft>
              <a:buClr>
                <a:schemeClr val="dk1"/>
              </a:buClr>
              <a:buSzPts val="1100"/>
              <a:buFont typeface="Arial"/>
              <a:buNone/>
            </a:pPr>
            <a:r>
              <a:rPr b="1" lang="en" sz="1600">
                <a:solidFill>
                  <a:schemeClr val="dk1"/>
                </a:solidFill>
              </a:rPr>
              <a:t>رسالتنا</a:t>
            </a:r>
            <a:endParaRPr b="1" sz="1600">
              <a:solidFill>
                <a:schemeClr val="dk1"/>
              </a:solidFill>
            </a:endParaRPr>
          </a:p>
          <a:p>
            <a:pPr indent="0" lvl="0" marL="0" rtl="1" algn="r">
              <a:spcBef>
                <a:spcPts val="1800"/>
              </a:spcBef>
              <a:spcAft>
                <a:spcPts val="400"/>
              </a:spcAft>
              <a:buClr>
                <a:schemeClr val="dk1"/>
              </a:buClr>
              <a:buSzPts val="1100"/>
              <a:buFont typeface="Arial"/>
              <a:buNone/>
            </a:pPr>
            <a:r>
              <a:rPr lang="en" sz="1400">
                <a:solidFill>
                  <a:schemeClr val="dk1"/>
                </a:solidFill>
              </a:rPr>
              <a:t>نبتكر حلولًا مؤسسية ونبني قدرات قيادية تمكّن الجهات من تحقيق أداء فعّال ومستدام.</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1" algn="r">
              <a:lnSpc>
                <a:spcPct val="105000"/>
              </a:lnSpc>
              <a:spcBef>
                <a:spcPts val="1200"/>
              </a:spcBef>
              <a:spcAft>
                <a:spcPts val="0"/>
              </a:spcAft>
              <a:buClr>
                <a:schemeClr val="dk1"/>
              </a:buClr>
              <a:buSzPts val="1400"/>
              <a:buChar char="●"/>
            </a:pPr>
            <a:r>
              <a:rPr lang="en" sz="1400">
                <a:solidFill>
                  <a:schemeClr val="dk1"/>
                </a:solidFill>
              </a:rPr>
              <a:t>تمكين مستدام</a:t>
            </a:r>
            <a:endParaRPr sz="1400">
              <a:solidFill>
                <a:schemeClr val="dk1"/>
              </a:solidFill>
            </a:endParaRPr>
          </a:p>
          <a:p>
            <a:pPr indent="0" lvl="0" marL="0" rtl="1" algn="r">
              <a:lnSpc>
                <a:spcPct val="105000"/>
              </a:lnSpc>
              <a:spcBef>
                <a:spcPts val="1200"/>
              </a:spcBef>
              <a:spcAft>
                <a:spcPts val="0"/>
              </a:spcAft>
              <a:buNone/>
            </a:pPr>
            <a:r>
              <a:rPr lang="en" sz="1400">
                <a:solidFill>
                  <a:schemeClr val="dk1"/>
                </a:solidFill>
              </a:rPr>
              <a:t>نصمم تدخلاتنا بما يضمن بناء قدرات داخلية طويلة الأمد تمكّن الجهات من إدارة أدائها وتحسينه بصورة مستقلة.</a:t>
            </a:r>
            <a:endParaRPr sz="1400">
              <a:solidFill>
                <a:schemeClr val="dk1"/>
              </a:solidFill>
            </a:endParaRPr>
          </a:p>
          <a:p>
            <a:pPr indent="-317500" lvl="0" marL="457200" rtl="1" algn="r">
              <a:lnSpc>
                <a:spcPct val="105000"/>
              </a:lnSpc>
              <a:spcBef>
                <a:spcPts val="1200"/>
              </a:spcBef>
              <a:spcAft>
                <a:spcPts val="0"/>
              </a:spcAft>
              <a:buClr>
                <a:schemeClr val="dk1"/>
              </a:buClr>
              <a:buSzPts val="1400"/>
              <a:buChar char="●"/>
            </a:pPr>
            <a:r>
              <a:rPr lang="en" sz="1400">
                <a:solidFill>
                  <a:schemeClr val="dk1"/>
                </a:solidFill>
              </a:rPr>
              <a:t>رؤى ملهمة</a:t>
            </a:r>
            <a:endParaRPr sz="1400">
              <a:solidFill>
                <a:schemeClr val="dk1"/>
              </a:solidFill>
            </a:endParaRPr>
          </a:p>
          <a:p>
            <a:pPr indent="0" lvl="0" marL="0" rtl="1" algn="r">
              <a:lnSpc>
                <a:spcPct val="105000"/>
              </a:lnSpc>
              <a:spcBef>
                <a:spcPts val="1200"/>
              </a:spcBef>
              <a:spcAft>
                <a:spcPts val="0"/>
              </a:spcAft>
              <a:buNone/>
            </a:pPr>
            <a:r>
              <a:rPr lang="en" sz="1400">
                <a:solidFill>
                  <a:schemeClr val="dk1"/>
                </a:solidFill>
              </a:rPr>
              <a:t>نستند إلى تحليل عميق وفهم استراتيجي لتقديم رؤى تساعد الجهات على اتخاذ قرارات مدروسة وتعزيز توجهها المستقبلي.</a:t>
            </a:r>
            <a:endParaRPr sz="1400">
              <a:solidFill>
                <a:schemeClr val="dk1"/>
              </a:solidFill>
            </a:endParaRPr>
          </a:p>
          <a:p>
            <a:pPr indent="-317500" lvl="0" marL="457200" rtl="1" algn="r">
              <a:lnSpc>
                <a:spcPct val="105000"/>
              </a:lnSpc>
              <a:spcBef>
                <a:spcPts val="1200"/>
              </a:spcBef>
              <a:spcAft>
                <a:spcPts val="0"/>
              </a:spcAft>
              <a:buClr>
                <a:schemeClr val="dk1"/>
              </a:buClr>
              <a:buSzPts val="1400"/>
              <a:buChar char="●"/>
            </a:pPr>
            <a:r>
              <a:rPr lang="en" sz="1400">
                <a:solidFill>
                  <a:schemeClr val="dk1"/>
                </a:solidFill>
              </a:rPr>
              <a:t>ابتكار وتجديد</a:t>
            </a:r>
            <a:endParaRPr sz="1400">
              <a:solidFill>
                <a:schemeClr val="dk1"/>
              </a:solidFill>
            </a:endParaRPr>
          </a:p>
          <a:p>
            <a:pPr indent="0" lvl="0" marL="0" rtl="1" algn="r">
              <a:lnSpc>
                <a:spcPct val="105000"/>
              </a:lnSpc>
              <a:spcBef>
                <a:spcPts val="1200"/>
              </a:spcBef>
              <a:spcAft>
                <a:spcPts val="0"/>
              </a:spcAft>
              <a:buNone/>
            </a:pPr>
            <a:r>
              <a:rPr lang="en" sz="1400">
                <a:solidFill>
                  <a:schemeClr val="dk1"/>
                </a:solidFill>
              </a:rPr>
              <a:t>نطوّر حلولًا منهجية متجددة تستجيب لتغيرات البيئة التنظيمية وتواكب أفضل الممارسات العالمية.</a:t>
            </a:r>
            <a:endParaRPr sz="1400">
              <a:solidFill>
                <a:schemeClr val="dk1"/>
              </a:solidFill>
            </a:endParaRPr>
          </a:p>
          <a:p>
            <a:pPr indent="-317500" lvl="0" marL="457200" rtl="1" algn="r">
              <a:lnSpc>
                <a:spcPct val="105000"/>
              </a:lnSpc>
              <a:spcBef>
                <a:spcPts val="1200"/>
              </a:spcBef>
              <a:spcAft>
                <a:spcPts val="0"/>
              </a:spcAft>
              <a:buClr>
                <a:schemeClr val="dk1"/>
              </a:buClr>
              <a:buSzPts val="1400"/>
              <a:buChar char="●"/>
            </a:pPr>
            <a:r>
              <a:rPr lang="en" sz="1400">
                <a:solidFill>
                  <a:schemeClr val="dk1"/>
                </a:solidFill>
              </a:rPr>
              <a:t>دافعية وإنجاز</a:t>
            </a:r>
            <a:endParaRPr sz="1400">
              <a:solidFill>
                <a:schemeClr val="dk1"/>
              </a:solidFill>
            </a:endParaRPr>
          </a:p>
          <a:p>
            <a:pPr indent="0" lvl="0" marL="0" rtl="1" algn="r">
              <a:lnSpc>
                <a:spcPct val="105000"/>
              </a:lnSpc>
              <a:spcBef>
                <a:spcPts val="1200"/>
              </a:spcBef>
              <a:spcAft>
                <a:spcPts val="0"/>
              </a:spcAft>
              <a:buNone/>
            </a:pPr>
            <a:r>
              <a:rPr lang="en" sz="1400">
                <a:solidFill>
                  <a:schemeClr val="dk1"/>
                </a:solidFill>
              </a:rPr>
              <a:t>نرسّخ ثقافة قائمة على الالتزام والنتائج ونعمل على تحويل الأهداف إلى مخرجات قابلة للقياس.</a:t>
            </a:r>
            <a:endParaRPr sz="1400">
              <a:solidFill>
                <a:schemeClr val="dk1"/>
              </a:solidFill>
            </a:endParaRPr>
          </a:p>
          <a:p>
            <a:pPr indent="-317500" lvl="0" marL="457200" rtl="1" algn="r">
              <a:lnSpc>
                <a:spcPct val="105000"/>
              </a:lnSpc>
              <a:spcBef>
                <a:spcPts val="1200"/>
              </a:spcBef>
              <a:spcAft>
                <a:spcPts val="0"/>
              </a:spcAft>
              <a:buClr>
                <a:schemeClr val="dk1"/>
              </a:buClr>
              <a:buSzPts val="1400"/>
              <a:buChar char="●"/>
            </a:pPr>
            <a:r>
              <a:rPr lang="en" sz="1400">
                <a:solidFill>
                  <a:schemeClr val="dk1"/>
                </a:solidFill>
              </a:rPr>
              <a:t>جودة وتميّز</a:t>
            </a:r>
            <a:endParaRPr sz="1400">
              <a:solidFill>
                <a:schemeClr val="dk1"/>
              </a:solidFill>
            </a:endParaRPr>
          </a:p>
          <a:p>
            <a:pPr indent="0" lvl="0" marL="0" rtl="1" algn="r">
              <a:lnSpc>
                <a:spcPct val="105000"/>
              </a:lnSpc>
              <a:spcBef>
                <a:spcPts val="1200"/>
              </a:spcBef>
              <a:spcAft>
                <a:spcPts val="1200"/>
              </a:spcAft>
              <a:buNone/>
            </a:pPr>
            <a:r>
              <a:rPr lang="en" sz="1400">
                <a:solidFill>
                  <a:schemeClr val="dk1"/>
                </a:solidFill>
              </a:rPr>
              <a:t>نلتزم بمعايير عالية في جميع مراحل العمل ونحرص على تقديم مخرجات تتسم بالدقة والاحترافية.</a:t>
            </a:r>
            <a:endParaRPr sz="1400">
              <a:solidFill>
                <a:schemeClr val="dk1"/>
              </a:solidFill>
            </a:endParaRPr>
          </a:p>
        </p:txBody>
      </p:sp>
      <p:sp>
        <p:nvSpPr>
          <p:cNvPr id="79" name="Google Shape;79;p17"/>
          <p:cNvSpPr txBox="1"/>
          <p:nvPr>
            <p:ph type="title"/>
          </p:nvPr>
        </p:nvSpPr>
        <p:spPr>
          <a:xfrm>
            <a:off x="311700" y="180900"/>
            <a:ext cx="8520600" cy="836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القيم</a:t>
            </a:r>
            <a:endParaRPr/>
          </a:p>
          <a:p>
            <a:pPr indent="0" lvl="0" marL="0" rtl="1" algn="r">
              <a:spcBef>
                <a:spcPts val="0"/>
              </a:spcBef>
              <a:spcAft>
                <a:spcPts val="0"/>
              </a:spcAft>
              <a:buNone/>
            </a:pPr>
            <a:r>
              <a:rPr lang="en" sz="1750"/>
              <a:t>نؤمن بأن القيم المؤسسية تمثل الأساس الذي يُبنى عليه النجاح والاستدامة، وهي الإطار الذي يوجّه قراراتنا ومنهجيتنا في العمل.</a:t>
            </a:r>
            <a:endParaRPr sz="1750"/>
          </a:p>
          <a:p>
            <a:pPr indent="0" lvl="0" marL="0" rtl="1" algn="r">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305050"/>
            <a:ext cx="8520600" cy="572700"/>
          </a:xfrm>
          <a:prstGeom prst="rect">
            <a:avLst/>
          </a:prstGeom>
        </p:spPr>
        <p:txBody>
          <a:bodyPr anchorCtr="0" anchor="t" bIns="91425" lIns="91425" spcFirstLastPara="1" rIns="91425" wrap="square" tIns="91425">
            <a:normAutofit fontScale="90000"/>
          </a:bodyPr>
          <a:lstStyle/>
          <a:p>
            <a:pPr indent="0" lvl="0" marL="0" rtl="1" algn="r">
              <a:lnSpc>
                <a:spcPct val="115000"/>
              </a:lnSpc>
              <a:spcBef>
                <a:spcPts val="1400"/>
              </a:spcBef>
              <a:spcAft>
                <a:spcPts val="0"/>
              </a:spcAft>
              <a:buClr>
                <a:schemeClr val="dk1"/>
              </a:buClr>
              <a:buSzPct val="40000"/>
              <a:buFont typeface="Arial"/>
              <a:buNone/>
            </a:pPr>
            <a:r>
              <a:rPr b="1" lang="en" sz="2750"/>
              <a:t>السياق والتحديات التي نعالجها</a:t>
            </a:r>
            <a:endParaRPr b="1" sz="2750"/>
          </a:p>
          <a:p>
            <a:pPr indent="0" lvl="0" marL="0" rtl="1" algn="r">
              <a:lnSpc>
                <a:spcPct val="115000"/>
              </a:lnSpc>
              <a:spcBef>
                <a:spcPts val="1200"/>
              </a:spcBef>
              <a:spcAft>
                <a:spcPts val="0"/>
              </a:spcAft>
              <a:buClr>
                <a:schemeClr val="dk1"/>
              </a:buClr>
              <a:buSzPct val="84615"/>
              <a:buFont typeface="Arial"/>
              <a:buNone/>
            </a:pPr>
            <a:r>
              <a:rPr lang="en" sz="1300"/>
              <a:t>تواجه الجهات اليوم مجموعة من التحديات المؤسسية والقيادية المعقّدة، التي تؤثر على قدرتها على تحقيق أهدافها ومواكبة المتغيرات، ومن أبرزها:</a:t>
            </a:r>
            <a:endParaRPr sz="1300"/>
          </a:p>
          <a:p>
            <a:pPr indent="0" lvl="0" marL="0" rtl="1" algn="r">
              <a:spcBef>
                <a:spcPts val="1200"/>
              </a:spcBef>
              <a:spcAft>
                <a:spcPts val="0"/>
              </a:spcAft>
              <a:buNone/>
            </a:pPr>
            <a:r>
              <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1" algn="r">
              <a:spcBef>
                <a:spcPts val="0"/>
              </a:spcBef>
              <a:spcAft>
                <a:spcPts val="0"/>
              </a:spcAft>
              <a:buNone/>
            </a:pPr>
            <a:r>
              <a:t/>
            </a:r>
            <a:endParaRPr sz="100">
              <a:solidFill>
                <a:schemeClr val="dk1"/>
              </a:solidFill>
            </a:endParaRPr>
          </a:p>
          <a:p>
            <a:pPr indent="-330200" lvl="0" marL="457200" rtl="1" algn="r">
              <a:spcBef>
                <a:spcPts val="1200"/>
              </a:spcBef>
              <a:spcAft>
                <a:spcPts val="0"/>
              </a:spcAft>
              <a:buClr>
                <a:schemeClr val="dk1"/>
              </a:buClr>
              <a:buSzPts val="1600"/>
              <a:buChar char="●"/>
            </a:pPr>
            <a:r>
              <a:rPr lang="en" sz="1100">
                <a:solidFill>
                  <a:schemeClr val="dk1"/>
                </a:solidFill>
              </a:rPr>
              <a:t>غياب الوضوح الاستراتيجي أو ضعف ترجمة الاستراتيجية إلى مبادرات وتنفيذ فعلي.</a:t>
            </a:r>
            <a:endParaRPr sz="1100">
              <a:solidFill>
                <a:schemeClr val="dk1"/>
              </a:solidFill>
            </a:endParaRPr>
          </a:p>
          <a:p>
            <a:pPr indent="-330200" lvl="0" marL="457200" rtl="1" algn="r">
              <a:spcBef>
                <a:spcPts val="0"/>
              </a:spcBef>
              <a:spcAft>
                <a:spcPts val="0"/>
              </a:spcAft>
              <a:buClr>
                <a:schemeClr val="dk1"/>
              </a:buClr>
              <a:buSzPts val="1600"/>
              <a:buChar char="●"/>
            </a:pPr>
            <a:r>
              <a:rPr lang="en" sz="1100">
                <a:solidFill>
                  <a:schemeClr val="dk1"/>
                </a:solidFill>
              </a:rPr>
              <a:t>محدودية نضج النماذج التنظيمية، وتداخل الأدوار والصلاحيات، وضعف التكامل بين الوحدات.</a:t>
            </a:r>
            <a:endParaRPr sz="1100">
              <a:solidFill>
                <a:schemeClr val="dk1"/>
              </a:solidFill>
            </a:endParaRPr>
          </a:p>
          <a:p>
            <a:pPr indent="-330200" lvl="0" marL="457200" rtl="1" algn="r">
              <a:spcBef>
                <a:spcPts val="0"/>
              </a:spcBef>
              <a:spcAft>
                <a:spcPts val="0"/>
              </a:spcAft>
              <a:buClr>
                <a:schemeClr val="dk1"/>
              </a:buClr>
              <a:buSzPts val="1600"/>
              <a:buChar char="●"/>
            </a:pPr>
            <a:r>
              <a:rPr lang="en" sz="1100">
                <a:solidFill>
                  <a:schemeClr val="dk1"/>
                </a:solidFill>
              </a:rPr>
              <a:t>انخفاض كفاءة العمليات وتعقيد الإجراءات، بما ينعكس على الأداء والإنتاجية.</a:t>
            </a:r>
            <a:endParaRPr sz="1100">
              <a:solidFill>
                <a:schemeClr val="dk1"/>
              </a:solidFill>
            </a:endParaRPr>
          </a:p>
          <a:p>
            <a:pPr indent="-330200" lvl="0" marL="457200" rtl="1" algn="r">
              <a:spcBef>
                <a:spcPts val="0"/>
              </a:spcBef>
              <a:spcAft>
                <a:spcPts val="0"/>
              </a:spcAft>
              <a:buClr>
                <a:schemeClr val="dk1"/>
              </a:buClr>
              <a:buSzPts val="1600"/>
              <a:buChar char="●"/>
            </a:pPr>
            <a:r>
              <a:rPr lang="en" sz="1100">
                <a:solidFill>
                  <a:schemeClr val="dk1"/>
                </a:solidFill>
              </a:rPr>
              <a:t>مواءمة الثقافة التنظيمية مع مستهدفات الأداء، وتعزيز بيئة عمل محفزة تدعم الانتماء المؤسسي.</a:t>
            </a:r>
            <a:endParaRPr sz="1100">
              <a:solidFill>
                <a:schemeClr val="dk1"/>
              </a:solidFill>
            </a:endParaRPr>
          </a:p>
          <a:p>
            <a:pPr indent="-330200" lvl="0" marL="457200" rtl="1" algn="r">
              <a:spcBef>
                <a:spcPts val="0"/>
              </a:spcBef>
              <a:spcAft>
                <a:spcPts val="0"/>
              </a:spcAft>
              <a:buClr>
                <a:schemeClr val="dk1"/>
              </a:buClr>
              <a:buSzPts val="1600"/>
              <a:buChar char="●"/>
            </a:pPr>
            <a:r>
              <a:rPr lang="en" sz="1100">
                <a:solidFill>
                  <a:schemeClr val="dk1"/>
                </a:solidFill>
              </a:rPr>
              <a:t>الحاجة إلى أطر حوكمة أكثر فاعلية تعزز الامتثال، والجودة، والتميّز المؤسسي.</a:t>
            </a:r>
            <a:endParaRPr sz="1100">
              <a:solidFill>
                <a:schemeClr val="dk1"/>
              </a:solidFill>
            </a:endParaRPr>
          </a:p>
          <a:p>
            <a:pPr indent="-330200" lvl="0" marL="457200" rtl="1" algn="r">
              <a:spcBef>
                <a:spcPts val="0"/>
              </a:spcBef>
              <a:spcAft>
                <a:spcPts val="0"/>
              </a:spcAft>
              <a:buClr>
                <a:schemeClr val="dk1"/>
              </a:buClr>
              <a:buSzPts val="1600"/>
              <a:buChar char="●"/>
            </a:pPr>
            <a:r>
              <a:rPr lang="en" sz="1100">
                <a:solidFill>
                  <a:schemeClr val="dk1"/>
                </a:solidFill>
              </a:rPr>
              <a:t>تطوير القدرات القيادية لقيادة التغيير بكفاءة في بيئات متسارعة.</a:t>
            </a:r>
            <a:endParaRPr sz="1100">
              <a:solidFill>
                <a:schemeClr val="dk1"/>
              </a:solidFill>
            </a:endParaRPr>
          </a:p>
          <a:p>
            <a:pPr indent="-330200" lvl="0" marL="457200" rtl="1" algn="r">
              <a:spcBef>
                <a:spcPts val="0"/>
              </a:spcBef>
              <a:spcAft>
                <a:spcPts val="0"/>
              </a:spcAft>
              <a:buClr>
                <a:schemeClr val="dk1"/>
              </a:buClr>
              <a:buSzPts val="1600"/>
              <a:buChar char="●"/>
            </a:pPr>
            <a:r>
              <a:rPr lang="en" sz="1100">
                <a:solidFill>
                  <a:schemeClr val="dk1"/>
                </a:solidFill>
              </a:rPr>
              <a:t>ضعف استثمار الحلول الحديثة والتقنيات المتقدمة في تطوير القيادة وبناء القدرات.</a:t>
            </a:r>
            <a:endParaRPr sz="1100">
              <a:solidFill>
                <a:schemeClr val="dk1"/>
              </a:solidFill>
            </a:endParaRPr>
          </a:p>
          <a:p>
            <a:pPr indent="-330200" lvl="0" marL="457200" rtl="1" algn="r">
              <a:spcBef>
                <a:spcPts val="0"/>
              </a:spcBef>
              <a:spcAft>
                <a:spcPts val="0"/>
              </a:spcAft>
              <a:buClr>
                <a:schemeClr val="dk1"/>
              </a:buClr>
              <a:buSzPts val="1600"/>
              <a:buChar char="●"/>
            </a:pPr>
            <a:r>
              <a:rPr lang="en" sz="1100">
                <a:solidFill>
                  <a:schemeClr val="dk1"/>
                </a:solidFill>
              </a:rPr>
              <a:t>تحديات قياس الأداء وتحقيق أثر مستدام طويل الأمد.</a:t>
            </a:r>
            <a:endParaRPr sz="1100">
              <a:solidFill>
                <a:schemeClr val="dk1"/>
              </a:solidFill>
            </a:endParaRPr>
          </a:p>
          <a:p>
            <a:pPr indent="0" lvl="0" marL="0" rtl="1" algn="r">
              <a:spcBef>
                <a:spcPts val="1200"/>
              </a:spcBef>
              <a:spcAft>
                <a:spcPts val="0"/>
              </a:spcAft>
              <a:buClr>
                <a:schemeClr val="dk1"/>
              </a:buClr>
              <a:buSzPts val="1100"/>
              <a:buFont typeface="Arial"/>
              <a:buNone/>
            </a:pPr>
            <a:r>
              <a:rPr lang="en" sz="1600">
                <a:solidFill>
                  <a:schemeClr val="dk1"/>
                </a:solidFill>
              </a:rPr>
              <a:t>وانطلاقًا من ذلك، صممنا تداخلات بصورة متكاملة ومخصّصة، لرفع مستوى النضج المؤسسي والقيادي، وتعزيز كفاءة الأداء، وتمكين الجهات من تحقيق نتائج واضحة، قابلة للقياس، ومستدامة.</a:t>
            </a:r>
            <a:endParaRPr sz="1600">
              <a:solidFill>
                <a:schemeClr val="dk1"/>
              </a:solidFill>
            </a:endParaRPr>
          </a:p>
          <a:p>
            <a:pPr indent="0" lvl="0" marL="0" rtl="1" algn="r">
              <a:spcBef>
                <a:spcPts val="1200"/>
              </a:spcBef>
              <a:spcAft>
                <a:spcPts val="1200"/>
              </a:spcAft>
              <a:buNone/>
            </a:pPr>
            <a:r>
              <a:t/>
            </a:r>
            <a:endParaRPr sz="16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نطاق خدماتنا </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1200"/>
              </a:spcBef>
              <a:spcAft>
                <a:spcPts val="0"/>
              </a:spcAft>
              <a:buNone/>
            </a:pPr>
            <a:r>
              <a:rPr lang="en" sz="1600"/>
              <a:t>في ظل التحولات التنظيمية وتعقيدات بيئات العمل، تحتاج المنظمات إلى تدخلات استراتيجية عالية الأثر لتعزيز إدارة الأداء؛ ومن هنا نقدم مسارين متكاملين للتمكين القيادي والمؤسسي.</a:t>
            </a:r>
            <a:endParaRPr sz="1600"/>
          </a:p>
          <a:p>
            <a:pPr indent="0" lvl="0" marL="0" rtl="1" algn="r">
              <a:spcBef>
                <a:spcPts val="1200"/>
              </a:spcBef>
              <a:spcAft>
                <a:spcPts val="0"/>
              </a:spcAft>
              <a:buNone/>
            </a:pPr>
            <a:r>
              <a:t/>
            </a:r>
            <a:endParaRPr sz="1600"/>
          </a:p>
          <a:p>
            <a:pPr indent="-285750" lvl="0" marL="457200" rtl="1" algn="r">
              <a:spcBef>
                <a:spcPts val="1200"/>
              </a:spcBef>
              <a:spcAft>
                <a:spcPts val="0"/>
              </a:spcAft>
              <a:buClr>
                <a:schemeClr val="dk1"/>
              </a:buClr>
              <a:buSzPts val="900"/>
              <a:buChar char="●"/>
            </a:pPr>
            <a:r>
              <a:rPr lang="en" sz="1600"/>
              <a:t>التمكين المؤسسي</a:t>
            </a:r>
            <a:endParaRPr sz="1600"/>
          </a:p>
          <a:p>
            <a:pPr indent="-285750" lvl="0" marL="457200" rtl="1" algn="r">
              <a:spcBef>
                <a:spcPts val="0"/>
              </a:spcBef>
              <a:spcAft>
                <a:spcPts val="0"/>
              </a:spcAft>
              <a:buClr>
                <a:schemeClr val="dk1"/>
              </a:buClr>
              <a:buSzPts val="900"/>
              <a:buChar char="●"/>
            </a:pPr>
            <a:r>
              <a:rPr lang="en" sz="1600"/>
              <a:t>التمكين القيادي</a:t>
            </a:r>
            <a:endParaRPr sz="1600"/>
          </a:p>
          <a:p>
            <a:pPr indent="0" lvl="0" marL="0" rtl="1" algn="r">
              <a:spcBef>
                <a:spcPts val="1200"/>
              </a:spcBef>
              <a:spcAft>
                <a:spcPts val="1200"/>
              </a:spcAft>
              <a:buNone/>
            </a:pPr>
            <a: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185475"/>
            <a:ext cx="8520600" cy="572700"/>
          </a:xfrm>
          <a:prstGeom prst="rect">
            <a:avLst/>
          </a:prstGeom>
        </p:spPr>
        <p:txBody>
          <a:bodyPr anchorCtr="0" anchor="t" bIns="91425" lIns="91425" spcFirstLastPara="1" rIns="91425" wrap="square" tIns="91425">
            <a:normAutofit fontScale="90000"/>
          </a:bodyPr>
          <a:lstStyle/>
          <a:p>
            <a:pPr indent="0" lvl="0" marL="0" rtl="1" algn="r">
              <a:lnSpc>
                <a:spcPct val="115000"/>
              </a:lnSpc>
              <a:spcBef>
                <a:spcPts val="1400"/>
              </a:spcBef>
              <a:spcAft>
                <a:spcPts val="0"/>
              </a:spcAft>
              <a:buClr>
                <a:schemeClr val="dk1"/>
              </a:buClr>
              <a:buSzPct val="40000"/>
              <a:buFont typeface="Arial"/>
              <a:buNone/>
            </a:pPr>
            <a:r>
              <a:rPr b="1" lang="en" sz="2750"/>
              <a:t>التمكين المؤسسي</a:t>
            </a:r>
            <a:endParaRPr b="1" sz="2750"/>
          </a:p>
          <a:p>
            <a:pPr indent="0" lvl="0" marL="0" rtl="1" algn="r">
              <a:lnSpc>
                <a:spcPct val="115000"/>
              </a:lnSpc>
              <a:spcBef>
                <a:spcPts val="1200"/>
              </a:spcBef>
              <a:spcAft>
                <a:spcPts val="0"/>
              </a:spcAft>
              <a:buClr>
                <a:schemeClr val="dk1"/>
              </a:buClr>
              <a:buSzPct val="100000"/>
              <a:buFont typeface="Arial"/>
              <a:buNone/>
            </a:pPr>
            <a:r>
              <a:rPr lang="en" sz="1100"/>
              <a:t>نُطوّر جاهزية الكيانات لرفع كفاءة الأداء وتحقيق نتائج استراتيجية قابلة للقياس، عبر تدخلات تطويرية متكاملة تُحسن الحوكمة والعمليات والنموذج التشغيلي، وتربط التخطيط بالتنفيذ، وتدعم استدامة الأداء المؤسسي.</a:t>
            </a:r>
            <a:endParaRPr sz="1100"/>
          </a:p>
          <a:p>
            <a:pPr indent="0" lvl="0" marL="0" rtl="1" algn="r">
              <a:lnSpc>
                <a:spcPct val="115000"/>
              </a:lnSpc>
              <a:spcBef>
                <a:spcPts val="1200"/>
              </a:spcBef>
              <a:spcAft>
                <a:spcPts val="1200"/>
              </a:spcAft>
              <a:buClr>
                <a:schemeClr val="dk1"/>
              </a:buClr>
              <a:buSzPct val="100000"/>
              <a:buFont typeface="Arial"/>
              <a:buNone/>
            </a:pPr>
            <a:r>
              <a:t/>
            </a:r>
            <a:endParaRPr sz="1100"/>
          </a:p>
        </p:txBody>
      </p:sp>
      <p:sp>
        <p:nvSpPr>
          <p:cNvPr id="97" name="Google Shape;97;p20"/>
          <p:cNvSpPr txBox="1"/>
          <p:nvPr>
            <p:ph idx="1" type="body"/>
          </p:nvPr>
        </p:nvSpPr>
        <p:spPr>
          <a:xfrm>
            <a:off x="311700" y="1597975"/>
            <a:ext cx="8520600" cy="3416400"/>
          </a:xfrm>
          <a:prstGeom prst="rect">
            <a:avLst/>
          </a:prstGeom>
        </p:spPr>
        <p:txBody>
          <a:bodyPr anchorCtr="0" anchor="t" bIns="91425" lIns="91425" spcFirstLastPara="1" rIns="91425" wrap="square" tIns="91425">
            <a:noAutofit/>
          </a:bodyPr>
          <a:lstStyle/>
          <a:p>
            <a:pPr indent="0" lvl="0" marL="0" rtl="1" algn="r">
              <a:spcBef>
                <a:spcPts val="1800"/>
              </a:spcBef>
              <a:spcAft>
                <a:spcPts val="0"/>
              </a:spcAft>
              <a:buNone/>
            </a:pPr>
            <a:r>
              <a:rPr b="1" lang="en" sz="1700">
                <a:solidFill>
                  <a:schemeClr val="dk1"/>
                </a:solidFill>
              </a:rPr>
              <a:t>الأثر المتوقع</a:t>
            </a:r>
            <a:endParaRPr b="1" sz="1700">
              <a:solidFill>
                <a:schemeClr val="dk1"/>
              </a:solidFill>
            </a:endParaRPr>
          </a:p>
          <a:p>
            <a:pPr indent="-298450" lvl="0" marL="457200" rtl="1" algn="r">
              <a:lnSpc>
                <a:spcPct val="100000"/>
              </a:lnSpc>
              <a:spcBef>
                <a:spcPts val="400"/>
              </a:spcBef>
              <a:spcAft>
                <a:spcPts val="0"/>
              </a:spcAft>
              <a:buClr>
                <a:schemeClr val="dk1"/>
              </a:buClr>
              <a:buSzPts val="1100"/>
              <a:buChar char="●"/>
            </a:pPr>
            <a:r>
              <a:rPr lang="en" sz="1400">
                <a:solidFill>
                  <a:schemeClr val="dk1"/>
                </a:solidFill>
              </a:rPr>
              <a:t>رفع كفاءة التشغيل وتقليل الهدر وتحسين جودة المخرجات.</a:t>
            </a:r>
            <a:br>
              <a:rPr lang="en" sz="1400">
                <a:solidFill>
                  <a:schemeClr val="dk1"/>
                </a:solidFill>
              </a:rPr>
            </a:br>
            <a:endParaRPr sz="1400">
              <a:solidFill>
                <a:schemeClr val="dk1"/>
              </a:solidFill>
            </a:endParaRPr>
          </a:p>
          <a:p>
            <a:pPr indent="-298450" lvl="0" marL="457200" rtl="1" algn="r">
              <a:lnSpc>
                <a:spcPct val="100000"/>
              </a:lnSpc>
              <a:spcBef>
                <a:spcPts val="0"/>
              </a:spcBef>
              <a:spcAft>
                <a:spcPts val="0"/>
              </a:spcAft>
              <a:buClr>
                <a:schemeClr val="dk1"/>
              </a:buClr>
              <a:buSzPts val="1100"/>
              <a:buChar char="●"/>
            </a:pPr>
            <a:r>
              <a:rPr lang="en" sz="1400">
                <a:solidFill>
                  <a:schemeClr val="dk1"/>
                </a:solidFill>
              </a:rPr>
              <a:t>وضوح تنظيمي أعلى وتقليل الازدواجية وتداخل الصلاحيات.</a:t>
            </a:r>
            <a:br>
              <a:rPr lang="en" sz="1400">
                <a:solidFill>
                  <a:schemeClr val="dk1"/>
                </a:solidFill>
              </a:rPr>
            </a:br>
            <a:endParaRPr sz="1400">
              <a:solidFill>
                <a:schemeClr val="dk1"/>
              </a:solidFill>
            </a:endParaRPr>
          </a:p>
          <a:p>
            <a:pPr indent="-298450" lvl="0" marL="457200" rtl="1" algn="r">
              <a:lnSpc>
                <a:spcPct val="100000"/>
              </a:lnSpc>
              <a:spcBef>
                <a:spcPts val="0"/>
              </a:spcBef>
              <a:spcAft>
                <a:spcPts val="0"/>
              </a:spcAft>
              <a:buClr>
                <a:schemeClr val="dk1"/>
              </a:buClr>
              <a:buSzPts val="1100"/>
              <a:buChar char="●"/>
            </a:pPr>
            <a:r>
              <a:rPr lang="en" sz="1400">
                <a:solidFill>
                  <a:schemeClr val="dk1"/>
                </a:solidFill>
              </a:rPr>
              <a:t>تسريع تنفيذ الاستراتيجية ورفع نجاح المبادرات.</a:t>
            </a:r>
            <a:br>
              <a:rPr lang="en" sz="1400">
                <a:solidFill>
                  <a:schemeClr val="dk1"/>
                </a:solidFill>
              </a:rPr>
            </a:br>
            <a:endParaRPr sz="1400">
              <a:solidFill>
                <a:schemeClr val="dk1"/>
              </a:solidFill>
            </a:endParaRPr>
          </a:p>
          <a:p>
            <a:pPr indent="-298450" lvl="0" marL="457200" rtl="1" algn="r">
              <a:lnSpc>
                <a:spcPct val="100000"/>
              </a:lnSpc>
              <a:spcBef>
                <a:spcPts val="0"/>
              </a:spcBef>
              <a:spcAft>
                <a:spcPts val="0"/>
              </a:spcAft>
              <a:buClr>
                <a:schemeClr val="dk1"/>
              </a:buClr>
              <a:buSzPts val="1100"/>
              <a:buChar char="●"/>
            </a:pPr>
            <a:r>
              <a:rPr lang="en" sz="1400">
                <a:solidFill>
                  <a:schemeClr val="dk1"/>
                </a:solidFill>
              </a:rPr>
              <a:t>تعزيز الحوكمة والالتزام وإدارة المخاطر بشكل أفضل.</a:t>
            </a:r>
            <a:br>
              <a:rPr lang="en" sz="1400">
                <a:solidFill>
                  <a:schemeClr val="dk1"/>
                </a:solidFill>
              </a:rPr>
            </a:br>
            <a:endParaRPr sz="1400">
              <a:solidFill>
                <a:schemeClr val="dk1"/>
              </a:solidFill>
            </a:endParaRPr>
          </a:p>
          <a:p>
            <a:pPr indent="-298450" lvl="0" marL="457200" rtl="1" algn="r">
              <a:lnSpc>
                <a:spcPct val="100000"/>
              </a:lnSpc>
              <a:spcBef>
                <a:spcPts val="0"/>
              </a:spcBef>
              <a:spcAft>
                <a:spcPts val="0"/>
              </a:spcAft>
              <a:buClr>
                <a:schemeClr val="dk1"/>
              </a:buClr>
              <a:buSzPts val="1100"/>
              <a:buChar char="●"/>
            </a:pPr>
            <a:r>
              <a:rPr lang="en" sz="1400">
                <a:solidFill>
                  <a:schemeClr val="dk1"/>
                </a:solidFill>
              </a:rPr>
              <a:t>تحسين تجربة المستفيد ورفع مستوى جودة الخدمات.</a:t>
            </a:r>
            <a:br>
              <a:rPr lang="en" sz="1400">
                <a:solidFill>
                  <a:schemeClr val="dk1"/>
                </a:solidFill>
              </a:rPr>
            </a:br>
            <a:endParaRPr sz="1400">
              <a:solidFill>
                <a:schemeClr val="dk1"/>
              </a:solidFill>
            </a:endParaRPr>
          </a:p>
          <a:p>
            <a:pPr indent="-298450" lvl="0" marL="457200" rtl="1" algn="r">
              <a:spcBef>
                <a:spcPts val="0"/>
              </a:spcBef>
              <a:spcAft>
                <a:spcPts val="0"/>
              </a:spcAft>
              <a:buClr>
                <a:schemeClr val="dk1"/>
              </a:buClr>
              <a:buSzPts val="1100"/>
              <a:buChar char="●"/>
            </a:pPr>
            <a:r>
              <a:rPr lang="en" sz="1400">
                <a:solidFill>
                  <a:schemeClr val="dk1"/>
                </a:solidFill>
              </a:rPr>
              <a:t>بناء نموذج أداء مستدام قائم على القياس والتحسين المستمر.</a:t>
            </a:r>
            <a:br>
              <a:rPr lang="en" sz="1100">
                <a:solidFill>
                  <a:schemeClr val="dk1"/>
                </a:solidFill>
              </a:rPr>
            </a:br>
            <a:endParaRPr b="1" sz="1087">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idx="1" type="body"/>
          </p:nvPr>
        </p:nvSpPr>
        <p:spPr>
          <a:xfrm>
            <a:off x="0" y="758175"/>
            <a:ext cx="8911500" cy="3901200"/>
          </a:xfrm>
          <a:prstGeom prst="rect">
            <a:avLst/>
          </a:prstGeom>
        </p:spPr>
        <p:txBody>
          <a:bodyPr anchorCtr="0" anchor="t" bIns="91425" lIns="91425" spcFirstLastPara="1" rIns="91425" wrap="square" tIns="91425">
            <a:noAutofit/>
          </a:bodyPr>
          <a:lstStyle/>
          <a:p>
            <a:pPr indent="0" lvl="0" marL="0" rtl="1" algn="r">
              <a:spcBef>
                <a:spcPts val="1800"/>
              </a:spcBef>
              <a:spcAft>
                <a:spcPts val="0"/>
              </a:spcAft>
              <a:buNone/>
            </a:pPr>
            <a:r>
              <a:rPr b="1" lang="en" sz="1700">
                <a:solidFill>
                  <a:schemeClr val="dk1"/>
                </a:solidFill>
              </a:rPr>
              <a:t>نطاق العمل</a:t>
            </a:r>
            <a:endParaRPr b="1" sz="1700">
              <a:solidFill>
                <a:schemeClr val="dk1"/>
              </a:solidFill>
            </a:endParaRPr>
          </a:p>
          <a:p>
            <a:pPr indent="0" lvl="0" marL="0" rtl="1" algn="r">
              <a:spcBef>
                <a:spcPts val="1400"/>
              </a:spcBef>
              <a:spcAft>
                <a:spcPts val="0"/>
              </a:spcAft>
              <a:buClr>
                <a:schemeClr val="dk1"/>
              </a:buClr>
              <a:buSzPts val="1100"/>
              <a:buFont typeface="Arial"/>
              <a:buNone/>
            </a:pPr>
            <a:r>
              <a:rPr b="1" lang="en" sz="1300">
                <a:solidFill>
                  <a:schemeClr val="dk1"/>
                </a:solidFill>
              </a:rPr>
              <a:t>التشخيص المؤسسي وتحديد فجوات الأداء</a:t>
            </a:r>
            <a:endParaRPr b="1" sz="1300">
              <a:solidFill>
                <a:schemeClr val="dk1"/>
              </a:solidFill>
            </a:endParaRPr>
          </a:p>
          <a:p>
            <a:pPr indent="0" lvl="0" marL="0" rtl="1" algn="r">
              <a:spcBef>
                <a:spcPts val="1200"/>
              </a:spcBef>
              <a:spcAft>
                <a:spcPts val="0"/>
              </a:spcAft>
              <a:buClr>
                <a:schemeClr val="dk1"/>
              </a:buClr>
              <a:buSzPts val="1100"/>
              <a:buFont typeface="Arial"/>
              <a:buNone/>
            </a:pPr>
            <a:r>
              <a:rPr lang="en" sz="1100">
                <a:solidFill>
                  <a:schemeClr val="dk1"/>
                </a:solidFill>
              </a:rPr>
              <a:t>إجراء تقييم شامل للواقع التنظيمي والتشغيلي، وتحليل فجوات الأداء وتحديد الأولويات الاستراتيجية التي تتطلب تدخلًا فوريًا أو مرحليًا.</a:t>
            </a:r>
            <a:endParaRPr sz="1100">
              <a:solidFill>
                <a:schemeClr val="dk1"/>
              </a:solidFill>
            </a:endParaRPr>
          </a:p>
          <a:p>
            <a:pPr indent="0" lvl="0" marL="0" rtl="1" algn="r">
              <a:spcBef>
                <a:spcPts val="1400"/>
              </a:spcBef>
              <a:spcAft>
                <a:spcPts val="0"/>
              </a:spcAft>
              <a:buClr>
                <a:schemeClr val="dk1"/>
              </a:buClr>
              <a:buSzPts val="1100"/>
              <a:buFont typeface="Arial"/>
              <a:buNone/>
            </a:pPr>
            <a:r>
              <a:rPr b="1" lang="en" sz="1300">
                <a:solidFill>
                  <a:schemeClr val="dk1"/>
                </a:solidFill>
              </a:rPr>
              <a:t>تطوير الاستراتيجية وترجمتها إلى تنفيذ</a:t>
            </a:r>
            <a:endParaRPr b="1" sz="1300">
              <a:solidFill>
                <a:schemeClr val="dk1"/>
              </a:solidFill>
            </a:endParaRPr>
          </a:p>
          <a:p>
            <a:pPr indent="0" lvl="0" marL="0" rtl="1" algn="r">
              <a:spcBef>
                <a:spcPts val="1200"/>
              </a:spcBef>
              <a:spcAft>
                <a:spcPts val="0"/>
              </a:spcAft>
              <a:buClr>
                <a:schemeClr val="dk1"/>
              </a:buClr>
              <a:buSzPts val="1100"/>
              <a:buFont typeface="Arial"/>
              <a:buNone/>
            </a:pPr>
            <a:r>
              <a:rPr lang="en" sz="1100">
                <a:solidFill>
                  <a:schemeClr val="dk1"/>
                </a:solidFill>
              </a:rPr>
              <a:t>صياغة أو تحديث الاستراتيجية المؤسسية وربطها بمبادرات واضحة وخطط تنفيذية قابلة للقياس، لضمان الانتقال من الرؤية إلى النتائج.</a:t>
            </a:r>
            <a:endParaRPr sz="1100">
              <a:solidFill>
                <a:schemeClr val="dk1"/>
              </a:solidFill>
            </a:endParaRPr>
          </a:p>
          <a:p>
            <a:pPr indent="0" lvl="0" marL="0" rtl="1" algn="r">
              <a:spcBef>
                <a:spcPts val="1400"/>
              </a:spcBef>
              <a:spcAft>
                <a:spcPts val="0"/>
              </a:spcAft>
              <a:buClr>
                <a:schemeClr val="dk1"/>
              </a:buClr>
              <a:buSzPts val="1100"/>
              <a:buFont typeface="Arial"/>
              <a:buNone/>
            </a:pPr>
            <a:r>
              <a:rPr b="1" lang="en" sz="1300">
                <a:solidFill>
                  <a:schemeClr val="dk1"/>
                </a:solidFill>
              </a:rPr>
              <a:t>إعادة تصميم الهياكل التنظيمية</a:t>
            </a:r>
            <a:endParaRPr b="1" sz="1300">
              <a:solidFill>
                <a:schemeClr val="dk1"/>
              </a:solidFill>
            </a:endParaRPr>
          </a:p>
          <a:p>
            <a:pPr indent="0" lvl="0" marL="0" rtl="1" algn="r">
              <a:spcBef>
                <a:spcPts val="1200"/>
              </a:spcBef>
              <a:spcAft>
                <a:spcPts val="0"/>
              </a:spcAft>
              <a:buClr>
                <a:schemeClr val="dk1"/>
              </a:buClr>
              <a:buSzPts val="1100"/>
              <a:buFont typeface="Arial"/>
              <a:buNone/>
            </a:pPr>
            <a:r>
              <a:rPr lang="en" sz="1100">
                <a:solidFill>
                  <a:schemeClr val="dk1"/>
                </a:solidFill>
              </a:rPr>
              <a:t>تطوير الهياكل التنظيمية بما يحقق وضوح الأدوار والمسؤوليات، ويعزز التكامل بين الإدارات ويحد من الازدواجية.</a:t>
            </a:r>
            <a:endParaRPr sz="1100">
              <a:solidFill>
                <a:schemeClr val="dk1"/>
              </a:solidFill>
            </a:endParaRPr>
          </a:p>
          <a:p>
            <a:pPr indent="0" lvl="0" marL="0" rtl="1" algn="r">
              <a:spcBef>
                <a:spcPts val="1400"/>
              </a:spcBef>
              <a:spcAft>
                <a:spcPts val="0"/>
              </a:spcAft>
              <a:buClr>
                <a:schemeClr val="dk1"/>
              </a:buClr>
              <a:buSzPts val="1100"/>
              <a:buFont typeface="Arial"/>
              <a:buNone/>
            </a:pPr>
            <a:r>
              <a:rPr b="1" lang="en" sz="1300">
                <a:solidFill>
                  <a:schemeClr val="dk1"/>
                </a:solidFill>
              </a:rPr>
              <a:t>تطوير السياسات والإجراءات وتحسين العمليات</a:t>
            </a:r>
            <a:endParaRPr b="1" sz="1300">
              <a:solidFill>
                <a:schemeClr val="dk1"/>
              </a:solidFill>
            </a:endParaRPr>
          </a:p>
          <a:p>
            <a:pPr indent="0" lvl="0" marL="0" rtl="1" algn="r">
              <a:spcBef>
                <a:spcPts val="1200"/>
              </a:spcBef>
              <a:spcAft>
                <a:spcPts val="0"/>
              </a:spcAft>
              <a:buClr>
                <a:schemeClr val="dk1"/>
              </a:buClr>
              <a:buSzPts val="1100"/>
              <a:buFont typeface="Arial"/>
              <a:buNone/>
            </a:pPr>
            <a:r>
              <a:rPr lang="en" sz="1100">
                <a:solidFill>
                  <a:schemeClr val="dk1"/>
                </a:solidFill>
              </a:rPr>
              <a:t>إعداد وتحديث السياسات والأدلة التنظيمية، وإعادة تصميم العمليات التشغيلية لرفع الكفاءة وتقليل التعقيد والهدر.</a:t>
            </a:r>
            <a:endParaRPr sz="1100">
              <a:solidFill>
                <a:schemeClr val="dk1"/>
              </a:solidFill>
            </a:endParaRPr>
          </a:p>
          <a:p>
            <a:pPr indent="0" lvl="0" marL="0" rtl="1" algn="r">
              <a:spcBef>
                <a:spcPts val="1400"/>
              </a:spcBef>
              <a:spcAft>
                <a:spcPts val="0"/>
              </a:spcAft>
              <a:buClr>
                <a:schemeClr val="dk1"/>
              </a:buClr>
              <a:buSzPts val="1100"/>
              <a:buFont typeface="Arial"/>
              <a:buNone/>
            </a:pPr>
            <a:r>
              <a:rPr b="1" lang="en" sz="1300">
                <a:solidFill>
                  <a:schemeClr val="dk1"/>
                </a:solidFill>
              </a:rPr>
              <a:t>بناء وتفعيل الحوكمة المؤسسية</a:t>
            </a:r>
            <a:endParaRPr b="1" sz="1300">
              <a:solidFill>
                <a:schemeClr val="dk1"/>
              </a:solidFill>
            </a:endParaRPr>
          </a:p>
          <a:p>
            <a:pPr indent="0" lvl="0" marL="0" rtl="1" algn="r">
              <a:spcBef>
                <a:spcPts val="1200"/>
              </a:spcBef>
              <a:spcAft>
                <a:spcPts val="0"/>
              </a:spcAft>
              <a:buClr>
                <a:schemeClr val="dk1"/>
              </a:buClr>
              <a:buSzPts val="1100"/>
              <a:buFont typeface="Arial"/>
              <a:buNone/>
            </a:pPr>
            <a:r>
              <a:rPr lang="en" sz="1100">
                <a:solidFill>
                  <a:schemeClr val="dk1"/>
                </a:solidFill>
              </a:rPr>
              <a:t>تص</a:t>
            </a:r>
            <a:r>
              <a:rPr lang="en" sz="1100">
                <a:solidFill>
                  <a:schemeClr val="dk1"/>
                </a:solidFill>
              </a:rPr>
              <a:t>م</a:t>
            </a:r>
            <a:r>
              <a:rPr lang="en" sz="1100">
                <a:solidFill>
                  <a:schemeClr val="dk1"/>
                </a:solidFill>
              </a:rPr>
              <a:t>يم أطر حوكمة فعّالة تشمل إدارة اللجان، وتحديد الصلاحيات، وإدارة المخاطر، وتعزيز الامتثال والرقابة.</a:t>
            </a:r>
            <a:endParaRPr sz="1100">
              <a:solidFill>
                <a:schemeClr val="dk1"/>
              </a:solidFill>
            </a:endParaRPr>
          </a:p>
          <a:p>
            <a:pPr indent="0" lvl="0" marL="0" rtl="1" algn="r">
              <a:spcBef>
                <a:spcPts val="1400"/>
              </a:spcBef>
              <a:spcAft>
                <a:spcPts val="0"/>
              </a:spcAft>
              <a:buClr>
                <a:schemeClr val="dk1"/>
              </a:buClr>
              <a:buSzPts val="1100"/>
              <a:buFont typeface="Arial"/>
              <a:buNone/>
            </a:pPr>
            <a:r>
              <a:rPr b="1" lang="en" sz="1300">
                <a:solidFill>
                  <a:schemeClr val="dk1"/>
                </a:solidFill>
              </a:rPr>
              <a:t>تطوير نموذج التشغيل وتخطيط القوى العاملة</a:t>
            </a:r>
            <a:endParaRPr b="1" sz="1300">
              <a:solidFill>
                <a:schemeClr val="dk1"/>
              </a:solidFill>
            </a:endParaRPr>
          </a:p>
          <a:p>
            <a:pPr indent="0" lvl="0" marL="0" rtl="1" algn="r">
              <a:spcBef>
                <a:spcPts val="1200"/>
              </a:spcBef>
              <a:spcAft>
                <a:spcPts val="0"/>
              </a:spcAft>
              <a:buClr>
                <a:schemeClr val="dk1"/>
              </a:buClr>
              <a:buSzPts val="1100"/>
              <a:buFont typeface="Arial"/>
              <a:buNone/>
            </a:pPr>
            <a:r>
              <a:rPr lang="en" sz="1100">
                <a:solidFill>
                  <a:schemeClr val="dk1"/>
                </a:solidFill>
              </a:rPr>
              <a:t>تصميم نموذج تشغيل متكامل يربط بين الهيكل والعمليات والموارد، مع تخطيط القوى العاملة ورفع الإنتاجية التشغيلية.</a:t>
            </a:r>
            <a:endParaRPr sz="1100">
              <a:solidFill>
                <a:schemeClr val="dk1"/>
              </a:solidFill>
            </a:endParaRPr>
          </a:p>
          <a:p>
            <a:pPr indent="0" lvl="0" marL="0" rtl="1" algn="r">
              <a:spcBef>
                <a:spcPts val="1400"/>
              </a:spcBef>
              <a:spcAft>
                <a:spcPts val="0"/>
              </a:spcAft>
              <a:buClr>
                <a:schemeClr val="dk1"/>
              </a:buClr>
              <a:buSzPts val="1100"/>
              <a:buFont typeface="Arial"/>
              <a:buNone/>
            </a:pPr>
            <a:r>
              <a:rPr b="1" lang="en" sz="1300">
                <a:solidFill>
                  <a:schemeClr val="dk1"/>
                </a:solidFill>
              </a:rPr>
              <a:t>تطوير منظومة إدارة الأداء</a:t>
            </a:r>
            <a:endParaRPr b="1" sz="1300">
              <a:solidFill>
                <a:schemeClr val="dk1"/>
              </a:solidFill>
            </a:endParaRPr>
          </a:p>
          <a:p>
            <a:pPr indent="0" lvl="0" marL="0" rtl="1" algn="r">
              <a:spcBef>
                <a:spcPts val="1200"/>
              </a:spcBef>
              <a:spcAft>
                <a:spcPts val="0"/>
              </a:spcAft>
              <a:buClr>
                <a:schemeClr val="dk1"/>
              </a:buClr>
              <a:buSzPts val="1100"/>
              <a:buFont typeface="Arial"/>
              <a:buNone/>
            </a:pPr>
            <a:r>
              <a:rPr lang="en" sz="1100">
                <a:solidFill>
                  <a:schemeClr val="dk1"/>
                </a:solidFill>
              </a:rPr>
              <a:t>بناء مؤشرات أداء استراتيجية وتشغيلية، وتفعيل أنظمة إدارة الأداء ولوحات المتابعة لدعم اتخاذ القرار المبني على البيانات.</a:t>
            </a:r>
            <a:endParaRPr sz="1100">
              <a:solidFill>
                <a:schemeClr val="dk1"/>
              </a:solidFill>
            </a:endParaRPr>
          </a:p>
          <a:p>
            <a:pPr indent="0" lvl="0" marL="0" rtl="1" algn="r">
              <a:spcBef>
                <a:spcPts val="1400"/>
              </a:spcBef>
              <a:spcAft>
                <a:spcPts val="0"/>
              </a:spcAft>
              <a:buClr>
                <a:schemeClr val="dk1"/>
              </a:buClr>
              <a:buSzPts val="1100"/>
              <a:buFont typeface="Arial"/>
              <a:buNone/>
            </a:pPr>
            <a:r>
              <a:rPr b="1" lang="en" sz="1300">
                <a:solidFill>
                  <a:schemeClr val="dk1"/>
                </a:solidFill>
              </a:rPr>
              <a:t>تمكين إدارة المشاريع والبرامج والمحافظ</a:t>
            </a:r>
            <a:endParaRPr b="1" sz="1300">
              <a:solidFill>
                <a:schemeClr val="dk1"/>
              </a:solidFill>
            </a:endParaRPr>
          </a:p>
          <a:p>
            <a:pPr indent="0" lvl="0" marL="0" rtl="1" algn="r">
              <a:spcBef>
                <a:spcPts val="1200"/>
              </a:spcBef>
              <a:spcAft>
                <a:spcPts val="0"/>
              </a:spcAft>
              <a:buClr>
                <a:schemeClr val="dk1"/>
              </a:buClr>
              <a:buSzPts val="1100"/>
              <a:buFont typeface="Arial"/>
              <a:buNone/>
            </a:pPr>
            <a:r>
              <a:rPr lang="en" sz="1100">
                <a:solidFill>
                  <a:schemeClr val="dk1"/>
                </a:solidFill>
              </a:rPr>
              <a:t>تأسيس أو تطوير مكاتب إدارة المشاريع (PMO)، وتمكين حوكمة المبادرات ومتابعة التنفيذ وفق أولويات واضحة.</a:t>
            </a:r>
            <a:endParaRPr sz="1100">
              <a:solidFill>
                <a:schemeClr val="dk1"/>
              </a:solidFill>
            </a:endParaRPr>
          </a:p>
          <a:p>
            <a:pPr indent="0" lvl="0" marL="0" rtl="1" algn="r">
              <a:spcBef>
                <a:spcPts val="1400"/>
              </a:spcBef>
              <a:spcAft>
                <a:spcPts val="0"/>
              </a:spcAft>
              <a:buClr>
                <a:schemeClr val="dk1"/>
              </a:buClr>
              <a:buSzPts val="1100"/>
              <a:buFont typeface="Arial"/>
              <a:buNone/>
            </a:pPr>
            <a:r>
              <a:rPr b="1" lang="en" sz="1300">
                <a:solidFill>
                  <a:schemeClr val="dk1"/>
                </a:solidFill>
              </a:rPr>
              <a:t>تطوير تجربة المستفيد وجودة الخدمات</a:t>
            </a:r>
            <a:endParaRPr b="1" sz="1300">
              <a:solidFill>
                <a:schemeClr val="dk1"/>
              </a:solidFill>
            </a:endParaRPr>
          </a:p>
          <a:p>
            <a:pPr indent="0" lvl="0" marL="0" rtl="1" algn="r">
              <a:spcBef>
                <a:spcPts val="1200"/>
              </a:spcBef>
              <a:spcAft>
                <a:spcPts val="0"/>
              </a:spcAft>
              <a:buClr>
                <a:schemeClr val="dk1"/>
              </a:buClr>
              <a:buSzPts val="1100"/>
              <a:buFont typeface="Arial"/>
              <a:buNone/>
            </a:pPr>
            <a:r>
              <a:rPr lang="en" sz="1100">
                <a:solidFill>
                  <a:schemeClr val="dk1"/>
                </a:solidFill>
              </a:rPr>
              <a:t>تحسين تجربة المستفيد من خلال تصميم معايير خدمة واضحة، ورفع جودة الخدمات بما يعزز رضا المستفيدين وقيمة المؤسسة.</a:t>
            </a:r>
            <a:endParaRPr sz="1100">
              <a:solidFill>
                <a:schemeClr val="dk1"/>
              </a:solidFill>
            </a:endParaRPr>
          </a:p>
          <a:p>
            <a:pPr indent="0" lvl="0" marL="0" rtl="1" algn="r">
              <a:spcBef>
                <a:spcPts val="1400"/>
              </a:spcBef>
              <a:spcAft>
                <a:spcPts val="0"/>
              </a:spcAft>
              <a:buClr>
                <a:schemeClr val="dk1"/>
              </a:buClr>
              <a:buSzPts val="1100"/>
              <a:buFont typeface="Arial"/>
              <a:buNone/>
            </a:pPr>
            <a:r>
              <a:rPr b="1" lang="en" sz="1300">
                <a:solidFill>
                  <a:schemeClr val="dk1"/>
                </a:solidFill>
              </a:rPr>
              <a:t>إدارة التغيير وبناء الثقافة المؤسسية</a:t>
            </a:r>
            <a:endParaRPr b="1" sz="1300">
              <a:solidFill>
                <a:schemeClr val="dk1"/>
              </a:solidFill>
            </a:endParaRPr>
          </a:p>
          <a:p>
            <a:pPr indent="0" lvl="0" marL="0" rtl="1" algn="r">
              <a:spcBef>
                <a:spcPts val="1200"/>
              </a:spcBef>
              <a:spcAft>
                <a:spcPts val="0"/>
              </a:spcAft>
              <a:buClr>
                <a:schemeClr val="dk1"/>
              </a:buClr>
              <a:buSzPts val="1100"/>
              <a:buFont typeface="Arial"/>
              <a:buNone/>
            </a:pPr>
            <a:r>
              <a:rPr lang="en" sz="1100">
                <a:solidFill>
                  <a:schemeClr val="dk1"/>
                </a:solidFill>
              </a:rPr>
              <a:t>تصميم وتنفيذ برامج إدارة التغيير، وتعزيز ثقافة مؤسسية داعمة للأداء والجاهزية للتحول والاستدامة.</a:t>
            </a:r>
            <a:endParaRPr sz="1100">
              <a:solidFill>
                <a:schemeClr val="dk1"/>
              </a:solidFill>
            </a:endParaRPr>
          </a:p>
          <a:p>
            <a:pPr indent="0" lvl="0" marL="0" rtl="1" algn="r">
              <a:spcBef>
                <a:spcPts val="1200"/>
              </a:spcBef>
              <a:spcAft>
                <a:spcPts val="1200"/>
              </a:spcAft>
              <a:buNone/>
            </a:pPr>
            <a:r>
              <a:t/>
            </a:r>
            <a:endParaRPr b="1" sz="1300">
              <a:solidFill>
                <a:schemeClr val="dk1"/>
              </a:solidFill>
            </a:endParaRPr>
          </a:p>
        </p:txBody>
      </p:sp>
      <p:sp>
        <p:nvSpPr>
          <p:cNvPr id="103" name="Google Shape;103;p21"/>
          <p:cNvSpPr txBox="1"/>
          <p:nvPr>
            <p:ph type="title"/>
          </p:nvPr>
        </p:nvSpPr>
        <p:spPr>
          <a:xfrm>
            <a:off x="311700" y="185475"/>
            <a:ext cx="8520600" cy="572700"/>
          </a:xfrm>
          <a:prstGeom prst="rect">
            <a:avLst/>
          </a:prstGeom>
        </p:spPr>
        <p:txBody>
          <a:bodyPr anchorCtr="0" anchor="t" bIns="91425" lIns="91425" spcFirstLastPara="1" rIns="91425" wrap="square" tIns="91425">
            <a:normAutofit fontScale="90000"/>
          </a:bodyPr>
          <a:lstStyle/>
          <a:p>
            <a:pPr indent="0" lvl="0" marL="0" rtl="1" algn="r">
              <a:lnSpc>
                <a:spcPct val="115000"/>
              </a:lnSpc>
              <a:spcBef>
                <a:spcPts val="1400"/>
              </a:spcBef>
              <a:spcAft>
                <a:spcPts val="0"/>
              </a:spcAft>
              <a:buClr>
                <a:schemeClr val="dk1"/>
              </a:buClr>
              <a:buSzPct val="40000"/>
              <a:buFont typeface="Arial"/>
              <a:buNone/>
            </a:pPr>
            <a:r>
              <a:rPr b="1" lang="en" sz="2750"/>
              <a:t>التمكين</a:t>
            </a:r>
            <a:r>
              <a:rPr b="1" lang="en" sz="2750"/>
              <a:t> المؤسسي</a:t>
            </a:r>
            <a:endParaRPr b="1" sz="2750"/>
          </a:p>
          <a:p>
            <a:pPr indent="0" lvl="0" marL="0" rtl="1" algn="r">
              <a:lnSpc>
                <a:spcPct val="115000"/>
              </a:lnSpc>
              <a:spcBef>
                <a:spcPts val="1200"/>
              </a:spcBef>
              <a:spcAft>
                <a:spcPts val="1200"/>
              </a:spcAft>
              <a:buClr>
                <a:schemeClr val="dk1"/>
              </a:buClr>
              <a:buSzPct val="100000"/>
              <a:buFont typeface="Arial"/>
              <a:buNone/>
            </a:pPr>
            <a:r>
              <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0" lvl="0" marL="0" rtl="1" algn="r">
              <a:spcBef>
                <a:spcPts val="1800"/>
              </a:spcBef>
              <a:spcAft>
                <a:spcPts val="0"/>
              </a:spcAft>
              <a:buNone/>
            </a:pPr>
            <a:r>
              <a:rPr b="1" lang="en" sz="1700">
                <a:solidFill>
                  <a:schemeClr val="dk1"/>
                </a:solidFill>
              </a:rPr>
              <a:t>المنهجية المتبعة:</a:t>
            </a:r>
            <a:endParaRPr b="1" sz="1700">
              <a:solidFill>
                <a:schemeClr val="dk1"/>
              </a:solidFill>
            </a:endParaRPr>
          </a:p>
          <a:p>
            <a:pPr indent="0" lvl="0" marL="0" rtl="1" algn="r">
              <a:spcBef>
                <a:spcPts val="1800"/>
              </a:spcBef>
              <a:spcAft>
                <a:spcPts val="0"/>
              </a:spcAft>
              <a:buNone/>
            </a:pPr>
            <a:r>
              <a:t/>
            </a:r>
            <a:endParaRPr b="1" sz="1700">
              <a:solidFill>
                <a:schemeClr val="dk1"/>
              </a:solidFill>
            </a:endParaRPr>
          </a:p>
          <a:p>
            <a:pPr indent="0" lvl="0" marL="0" rtl="1" algn="r">
              <a:spcBef>
                <a:spcPts val="1200"/>
              </a:spcBef>
              <a:spcAft>
                <a:spcPts val="0"/>
              </a:spcAft>
              <a:buNone/>
            </a:pPr>
            <a:r>
              <a:rPr b="1" lang="en" sz="1300">
                <a:solidFill>
                  <a:schemeClr val="dk1"/>
                </a:solidFill>
              </a:rPr>
              <a:t>1</a:t>
            </a:r>
            <a:r>
              <a:rPr b="1" lang="en" sz="1300">
                <a:solidFill>
                  <a:schemeClr val="dk1"/>
                </a:solidFill>
              </a:rPr>
              <a:t>. التشخيص والتقييم المؤسسي</a:t>
            </a:r>
            <a:br>
              <a:rPr b="1" lang="en" sz="1100">
                <a:solidFill>
                  <a:schemeClr val="dk1"/>
                </a:solidFill>
              </a:rPr>
            </a:br>
            <a:r>
              <a:rPr lang="en" sz="1100">
                <a:solidFill>
                  <a:schemeClr val="dk1"/>
                </a:solidFill>
              </a:rPr>
              <a:t> تحليل الفجوات التنظيمية والتشغيلية، وتقييم مواءمة الاستراتيجية مع الهيكل والعمليات والأداء.</a:t>
            </a:r>
            <a:endParaRPr sz="1100">
              <a:solidFill>
                <a:schemeClr val="dk1"/>
              </a:solidFill>
            </a:endParaRPr>
          </a:p>
          <a:p>
            <a:pPr indent="0" lvl="0" marL="0" rtl="1" algn="r">
              <a:spcBef>
                <a:spcPts val="1200"/>
              </a:spcBef>
              <a:spcAft>
                <a:spcPts val="0"/>
              </a:spcAft>
              <a:buNone/>
            </a:pPr>
            <a:r>
              <a:rPr b="1" lang="en" sz="1300">
                <a:solidFill>
                  <a:schemeClr val="dk1"/>
                </a:solidFill>
              </a:rPr>
              <a:t>2. التصميم وإعادة البناء</a:t>
            </a:r>
            <a:br>
              <a:rPr b="1" lang="en" sz="1100">
                <a:solidFill>
                  <a:schemeClr val="dk1"/>
                </a:solidFill>
              </a:rPr>
            </a:br>
            <a:r>
              <a:rPr lang="en" sz="1100">
                <a:solidFill>
                  <a:schemeClr val="dk1"/>
                </a:solidFill>
              </a:rPr>
              <a:t> تصميم النماذج التنظيمية والتشغيلية المستهدفة، وبناء الأطر الداعمة للتنفيذ.</a:t>
            </a:r>
            <a:endParaRPr sz="1100">
              <a:solidFill>
                <a:schemeClr val="dk1"/>
              </a:solidFill>
            </a:endParaRPr>
          </a:p>
          <a:p>
            <a:pPr indent="0" lvl="0" marL="0" rtl="1" algn="r">
              <a:spcBef>
                <a:spcPts val="1200"/>
              </a:spcBef>
              <a:spcAft>
                <a:spcPts val="0"/>
              </a:spcAft>
              <a:buNone/>
            </a:pPr>
            <a:r>
              <a:rPr b="1" lang="en" sz="1300">
                <a:solidFill>
                  <a:schemeClr val="dk1"/>
                </a:solidFill>
              </a:rPr>
              <a:t>3. التنفيذ والتمكين</a:t>
            </a:r>
            <a:br>
              <a:rPr b="1" lang="en" sz="1100">
                <a:solidFill>
                  <a:schemeClr val="dk1"/>
                </a:solidFill>
              </a:rPr>
            </a:br>
            <a:r>
              <a:rPr lang="en" sz="1100">
                <a:solidFill>
                  <a:schemeClr val="dk1"/>
                </a:solidFill>
              </a:rPr>
              <a:t> تطبيق الحلول، وتمكين القيادات والفرق، وضمان انتقال سلس نحو النموذج الجديد.</a:t>
            </a:r>
            <a:endParaRPr sz="1100">
              <a:solidFill>
                <a:schemeClr val="dk1"/>
              </a:solidFill>
            </a:endParaRPr>
          </a:p>
          <a:p>
            <a:pPr indent="0" lvl="0" marL="0" rtl="1" algn="r">
              <a:spcBef>
                <a:spcPts val="1200"/>
              </a:spcBef>
              <a:spcAft>
                <a:spcPts val="1200"/>
              </a:spcAft>
              <a:buNone/>
            </a:pPr>
            <a:r>
              <a:rPr b="1" lang="en" sz="1300">
                <a:solidFill>
                  <a:schemeClr val="dk1"/>
                </a:solidFill>
              </a:rPr>
              <a:t>4. القياس والاستدامة</a:t>
            </a:r>
            <a:br>
              <a:rPr b="1" lang="en" sz="1100">
                <a:solidFill>
                  <a:schemeClr val="dk1"/>
                </a:solidFill>
              </a:rPr>
            </a:br>
            <a:r>
              <a:rPr lang="en" sz="1100">
                <a:solidFill>
                  <a:schemeClr val="dk1"/>
                </a:solidFill>
              </a:rPr>
              <a:t> ربط الأداء بالمؤشرات الاستراتيجية، وقياس الأثر، وتعزيز التحسين المستمر.</a:t>
            </a:r>
            <a:endParaRPr b="1" sz="1087">
              <a:solidFill>
                <a:schemeClr val="dk1"/>
              </a:solidFill>
            </a:endParaRPr>
          </a:p>
        </p:txBody>
      </p:sp>
      <p:sp>
        <p:nvSpPr>
          <p:cNvPr id="109" name="Google Shape;109;p22"/>
          <p:cNvSpPr txBox="1"/>
          <p:nvPr>
            <p:ph type="title"/>
          </p:nvPr>
        </p:nvSpPr>
        <p:spPr>
          <a:xfrm>
            <a:off x="311700" y="185475"/>
            <a:ext cx="8520600" cy="572700"/>
          </a:xfrm>
          <a:prstGeom prst="rect">
            <a:avLst/>
          </a:prstGeom>
        </p:spPr>
        <p:txBody>
          <a:bodyPr anchorCtr="0" anchor="t" bIns="91425" lIns="91425" spcFirstLastPara="1" rIns="91425" wrap="square" tIns="91425">
            <a:normAutofit fontScale="90000"/>
          </a:bodyPr>
          <a:lstStyle/>
          <a:p>
            <a:pPr indent="0" lvl="0" marL="0" rtl="1" algn="r">
              <a:lnSpc>
                <a:spcPct val="115000"/>
              </a:lnSpc>
              <a:spcBef>
                <a:spcPts val="1400"/>
              </a:spcBef>
              <a:spcAft>
                <a:spcPts val="0"/>
              </a:spcAft>
              <a:buClr>
                <a:schemeClr val="dk1"/>
              </a:buClr>
              <a:buSzPct val="40000"/>
              <a:buFont typeface="Arial"/>
              <a:buNone/>
            </a:pPr>
            <a:r>
              <a:rPr b="1" lang="en" sz="2750"/>
              <a:t>التمكين المؤسسي</a:t>
            </a:r>
            <a:endParaRPr b="1" sz="2750"/>
          </a:p>
          <a:p>
            <a:pPr indent="0" lvl="0" marL="0" rtl="1" algn="r">
              <a:lnSpc>
                <a:spcPct val="115000"/>
              </a:lnSpc>
              <a:spcBef>
                <a:spcPts val="1200"/>
              </a:spcBef>
              <a:spcAft>
                <a:spcPts val="1200"/>
              </a:spcAft>
              <a:buClr>
                <a:schemeClr val="dk1"/>
              </a:buClr>
              <a:buSzPct val="100000"/>
              <a:buFont typeface="Arial"/>
              <a:buNone/>
            </a:pPr>
            <a:r>
              <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248400"/>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التمكين القيادي</a:t>
            </a:r>
            <a:endParaRPr/>
          </a:p>
          <a:p>
            <a:pPr indent="0" lvl="0" marL="0" rtl="1" algn="r">
              <a:lnSpc>
                <a:spcPct val="115000"/>
              </a:lnSpc>
              <a:spcBef>
                <a:spcPts val="1200"/>
              </a:spcBef>
              <a:spcAft>
                <a:spcPts val="0"/>
              </a:spcAft>
              <a:buClr>
                <a:schemeClr val="dk1"/>
              </a:buClr>
              <a:buSzPct val="100000"/>
              <a:buFont typeface="Arial"/>
              <a:buNone/>
            </a:pPr>
            <a:r>
              <a:rPr lang="en" sz="1100">
                <a:solidFill>
                  <a:srgbClr val="000000"/>
                </a:solidFill>
              </a:rPr>
              <a:t>نطوّر قيادات تنفيذية تقود التحول المؤسسي وتدير التغيير وتتخذ قرارات استراتيجية أكثر فاعلية، عبر تدخلات تطويرية متكاملة تربط الرؤية بالتنفيذ وترفع الأداء المؤسسي.</a:t>
            </a:r>
            <a:endParaRPr sz="1100">
              <a:solidFill>
                <a:srgbClr val="000000"/>
              </a:solidFill>
            </a:endParaRPr>
          </a:p>
          <a:p>
            <a:pPr indent="0" lvl="0" marL="0" rtl="1" algn="r">
              <a:spcBef>
                <a:spcPts val="1200"/>
              </a:spcBef>
              <a:spcAft>
                <a:spcPts val="0"/>
              </a:spcAft>
              <a:buNone/>
            </a:pPr>
            <a:r>
              <a:rPr lang="en"/>
              <a:t> </a:t>
            </a:r>
            <a:endParaRPr/>
          </a:p>
        </p:txBody>
      </p:sp>
      <p:sp>
        <p:nvSpPr>
          <p:cNvPr id="115" name="Google Shape;115;p23"/>
          <p:cNvSpPr txBox="1"/>
          <p:nvPr>
            <p:ph idx="1" type="body"/>
          </p:nvPr>
        </p:nvSpPr>
        <p:spPr>
          <a:xfrm>
            <a:off x="311700" y="1242825"/>
            <a:ext cx="8520600" cy="3416400"/>
          </a:xfrm>
          <a:prstGeom prst="rect">
            <a:avLst/>
          </a:prstGeom>
        </p:spPr>
        <p:txBody>
          <a:bodyPr anchorCtr="0" anchor="t" bIns="91425" lIns="91425" spcFirstLastPara="1" rIns="91425" wrap="square" tIns="91425">
            <a:noAutofit/>
          </a:bodyPr>
          <a:lstStyle/>
          <a:p>
            <a:pPr indent="0" lvl="0" marL="0" rtl="1" algn="r">
              <a:lnSpc>
                <a:spcPct val="50000"/>
              </a:lnSpc>
              <a:spcBef>
                <a:spcPts val="1800"/>
              </a:spcBef>
              <a:spcAft>
                <a:spcPts val="0"/>
              </a:spcAft>
              <a:buNone/>
            </a:pPr>
            <a:r>
              <a:t/>
            </a:r>
            <a:endParaRPr sz="1100">
              <a:solidFill>
                <a:schemeClr val="dk1"/>
              </a:solidFill>
            </a:endParaRPr>
          </a:p>
          <a:p>
            <a:pPr indent="0" lvl="0" marL="0" rtl="1" algn="r">
              <a:lnSpc>
                <a:spcPct val="50000"/>
              </a:lnSpc>
              <a:spcBef>
                <a:spcPts val="1800"/>
              </a:spcBef>
              <a:spcAft>
                <a:spcPts val="0"/>
              </a:spcAft>
              <a:buNone/>
            </a:pPr>
            <a:r>
              <a:t/>
            </a:r>
            <a:endParaRPr sz="1100">
              <a:solidFill>
                <a:schemeClr val="dk1"/>
              </a:solidFill>
            </a:endParaRPr>
          </a:p>
          <a:p>
            <a:pPr indent="0" lvl="0" marL="0" rtl="1" algn="r">
              <a:spcBef>
                <a:spcPts val="1800"/>
              </a:spcBef>
              <a:spcAft>
                <a:spcPts val="0"/>
              </a:spcAft>
              <a:buNone/>
            </a:pPr>
            <a:r>
              <a:rPr b="1" lang="en" sz="1700">
                <a:solidFill>
                  <a:schemeClr val="dk1"/>
                </a:solidFill>
              </a:rPr>
              <a:t>الأثر المتوقع</a:t>
            </a:r>
            <a:endParaRPr b="1" sz="1700">
              <a:solidFill>
                <a:schemeClr val="dk1"/>
              </a:solidFill>
            </a:endParaRPr>
          </a:p>
          <a:p>
            <a:pPr indent="-298450" lvl="0" marL="457200" rtl="1" algn="r">
              <a:lnSpc>
                <a:spcPct val="100000"/>
              </a:lnSpc>
              <a:spcBef>
                <a:spcPts val="400"/>
              </a:spcBef>
              <a:spcAft>
                <a:spcPts val="0"/>
              </a:spcAft>
              <a:buClr>
                <a:schemeClr val="dk1"/>
              </a:buClr>
              <a:buSzPts val="1100"/>
              <a:buChar char="●"/>
            </a:pPr>
            <a:r>
              <a:rPr lang="en" sz="1100">
                <a:solidFill>
                  <a:schemeClr val="dk1"/>
                </a:solidFill>
              </a:rPr>
              <a:t>رفع فاعلية القيادات التنفيذية في قيادة الفرق والمبادرات وتحقيق النتائج.</a:t>
            </a:r>
            <a:br>
              <a:rPr lang="en" sz="1100">
                <a:solidFill>
                  <a:schemeClr val="dk1"/>
                </a:solidFill>
              </a:rPr>
            </a:br>
            <a:endParaRPr sz="1100">
              <a:solidFill>
                <a:schemeClr val="dk1"/>
              </a:solidFill>
            </a:endParaRPr>
          </a:p>
          <a:p>
            <a:pPr indent="-298450" lvl="0" marL="457200" rtl="1" algn="r">
              <a:spcBef>
                <a:spcPts val="0"/>
              </a:spcBef>
              <a:spcAft>
                <a:spcPts val="0"/>
              </a:spcAft>
              <a:buClr>
                <a:schemeClr val="dk1"/>
              </a:buClr>
              <a:buSzPts val="1100"/>
              <a:buChar char="●"/>
            </a:pPr>
            <a:r>
              <a:rPr lang="en" sz="1100">
                <a:solidFill>
                  <a:schemeClr val="dk1"/>
                </a:solidFill>
              </a:rPr>
              <a:t>تحسين جودة القرارات الاستراتيجية في البيئات المعقدة والمتغيرة.</a:t>
            </a:r>
            <a:br>
              <a:rPr lang="en" sz="1100">
                <a:solidFill>
                  <a:schemeClr val="dk1"/>
                </a:solidFill>
              </a:rPr>
            </a:br>
            <a:endParaRPr sz="1100">
              <a:solidFill>
                <a:schemeClr val="dk1"/>
              </a:solidFill>
            </a:endParaRPr>
          </a:p>
          <a:p>
            <a:pPr indent="-298450" lvl="0" marL="457200" rtl="1" algn="r">
              <a:spcBef>
                <a:spcPts val="0"/>
              </a:spcBef>
              <a:spcAft>
                <a:spcPts val="0"/>
              </a:spcAft>
              <a:buClr>
                <a:schemeClr val="dk1"/>
              </a:buClr>
              <a:buSzPts val="1100"/>
              <a:buChar char="●"/>
            </a:pPr>
            <a:r>
              <a:rPr lang="en" sz="1100">
                <a:solidFill>
                  <a:schemeClr val="dk1"/>
                </a:solidFill>
              </a:rPr>
              <a:t>تعزيز ثقافة المساءلة وربط الأداء </a:t>
            </a:r>
            <a:r>
              <a:rPr lang="en" sz="1100">
                <a:solidFill>
                  <a:schemeClr val="dk1"/>
                </a:solidFill>
              </a:rPr>
              <a:t>بالمؤشرات و</a:t>
            </a:r>
            <a:r>
              <a:rPr lang="en" sz="1100">
                <a:solidFill>
                  <a:schemeClr val="dk1"/>
                </a:solidFill>
              </a:rPr>
              <a:t>النتائج المؤسسية.</a:t>
            </a:r>
            <a:br>
              <a:rPr lang="en" sz="1100">
                <a:solidFill>
                  <a:schemeClr val="dk1"/>
                </a:solidFill>
              </a:rPr>
            </a:br>
            <a:endParaRPr sz="1100">
              <a:solidFill>
                <a:schemeClr val="dk1"/>
              </a:solidFill>
            </a:endParaRPr>
          </a:p>
          <a:p>
            <a:pPr indent="-298450" lvl="0" marL="457200" rtl="1" algn="r">
              <a:spcBef>
                <a:spcPts val="0"/>
              </a:spcBef>
              <a:spcAft>
                <a:spcPts val="0"/>
              </a:spcAft>
              <a:buClr>
                <a:schemeClr val="dk1"/>
              </a:buClr>
              <a:buSzPts val="1100"/>
              <a:buChar char="●"/>
            </a:pPr>
            <a:r>
              <a:rPr lang="en" sz="1100">
                <a:solidFill>
                  <a:schemeClr val="dk1"/>
                </a:solidFill>
              </a:rPr>
              <a:t>بناء صف قيادي مستدام يدعم استمرارية الأداء والتحول.</a:t>
            </a:r>
            <a:endParaRPr b="1" sz="1252">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248400"/>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التمكين القيادي</a:t>
            </a:r>
            <a:endParaRPr/>
          </a:p>
          <a:p>
            <a:pPr indent="0" lvl="0" marL="0" rtl="1" algn="r">
              <a:spcBef>
                <a:spcPts val="0"/>
              </a:spcBef>
              <a:spcAft>
                <a:spcPts val="0"/>
              </a:spcAft>
              <a:buNone/>
            </a:pPr>
            <a:r>
              <a:t/>
            </a:r>
            <a:endParaRPr/>
          </a:p>
        </p:txBody>
      </p:sp>
      <p:sp>
        <p:nvSpPr>
          <p:cNvPr id="121" name="Google Shape;121;p24"/>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0" lvl="0" marL="0" rtl="1" algn="r">
              <a:lnSpc>
                <a:spcPct val="50000"/>
              </a:lnSpc>
              <a:spcBef>
                <a:spcPts val="1800"/>
              </a:spcBef>
              <a:spcAft>
                <a:spcPts val="0"/>
              </a:spcAft>
              <a:buNone/>
            </a:pPr>
            <a:r>
              <a:rPr b="1" lang="en" sz="1700">
                <a:solidFill>
                  <a:schemeClr val="dk1"/>
                </a:solidFill>
              </a:rPr>
              <a:t>نطاق العمل</a:t>
            </a:r>
            <a:endParaRPr b="1" sz="1700">
              <a:solidFill>
                <a:schemeClr val="dk1"/>
              </a:solidFill>
            </a:endParaRPr>
          </a:p>
          <a:p>
            <a:pPr indent="0" lvl="0" marL="0" rtl="1" algn="r">
              <a:lnSpc>
                <a:spcPct val="50000"/>
              </a:lnSpc>
              <a:spcBef>
                <a:spcPts val="1800"/>
              </a:spcBef>
              <a:spcAft>
                <a:spcPts val="0"/>
              </a:spcAft>
              <a:buNone/>
            </a:pPr>
            <a:r>
              <a:rPr b="1" lang="en" sz="1300">
                <a:solidFill>
                  <a:schemeClr val="dk1"/>
                </a:solidFill>
              </a:rPr>
              <a:t>التقييم والتشخيص القيادي</a:t>
            </a:r>
            <a:endParaRPr b="1" sz="1300">
              <a:solidFill>
                <a:schemeClr val="dk1"/>
              </a:solidFill>
            </a:endParaRPr>
          </a:p>
          <a:p>
            <a:pPr indent="0" lvl="0" marL="0" rtl="1" algn="r">
              <a:lnSpc>
                <a:spcPct val="50000"/>
              </a:lnSpc>
              <a:spcBef>
                <a:spcPts val="1800"/>
              </a:spcBef>
              <a:spcAft>
                <a:spcPts val="0"/>
              </a:spcAft>
              <a:buNone/>
            </a:pPr>
            <a:r>
              <a:rPr lang="en" sz="1100">
                <a:solidFill>
                  <a:schemeClr val="dk1"/>
                </a:solidFill>
              </a:rPr>
              <a:t>إجراء تقييم شامل للقدرات القيادية باستخدام أدوات تحليل متقدمة، لقياس الجاهزية القيادية وتحديد فجوات الأداء.</a:t>
            </a:r>
            <a:endParaRPr sz="1100">
              <a:solidFill>
                <a:schemeClr val="dk1"/>
              </a:solidFill>
            </a:endParaRPr>
          </a:p>
          <a:p>
            <a:pPr indent="0" lvl="0" marL="0" rtl="1" algn="r">
              <a:lnSpc>
                <a:spcPct val="50000"/>
              </a:lnSpc>
              <a:spcBef>
                <a:spcPts val="1800"/>
              </a:spcBef>
              <a:spcAft>
                <a:spcPts val="0"/>
              </a:spcAft>
              <a:buNone/>
            </a:pPr>
            <a:r>
              <a:rPr b="1" lang="en" sz="1300">
                <a:solidFill>
                  <a:schemeClr val="dk1"/>
                </a:solidFill>
              </a:rPr>
              <a:t>تصميم برامج تطوير القيادات</a:t>
            </a:r>
            <a:endParaRPr b="1" sz="1300">
              <a:solidFill>
                <a:schemeClr val="dk1"/>
              </a:solidFill>
            </a:endParaRPr>
          </a:p>
          <a:p>
            <a:pPr indent="0" lvl="0" marL="0" rtl="1" algn="r">
              <a:lnSpc>
                <a:spcPct val="50000"/>
              </a:lnSpc>
              <a:spcBef>
                <a:spcPts val="1800"/>
              </a:spcBef>
              <a:spcAft>
                <a:spcPts val="0"/>
              </a:spcAft>
              <a:buNone/>
            </a:pPr>
            <a:r>
              <a:rPr lang="en" sz="1100">
                <a:solidFill>
                  <a:schemeClr val="dk1"/>
                </a:solidFill>
              </a:rPr>
              <a:t>تصميم برامج تطوير مخصّصة تنطلق من احتياجات الجهة وتراعي السياق التنظيمي والتحديات الاستراتيجية.</a:t>
            </a:r>
            <a:endParaRPr sz="1100">
              <a:solidFill>
                <a:schemeClr val="dk1"/>
              </a:solidFill>
            </a:endParaRPr>
          </a:p>
          <a:p>
            <a:pPr indent="0" lvl="0" marL="0" rtl="1" algn="r">
              <a:lnSpc>
                <a:spcPct val="50000"/>
              </a:lnSpc>
              <a:spcBef>
                <a:spcPts val="1800"/>
              </a:spcBef>
              <a:spcAft>
                <a:spcPts val="0"/>
              </a:spcAft>
              <a:buNone/>
            </a:pPr>
            <a:r>
              <a:rPr b="1" lang="en" sz="1300">
                <a:solidFill>
                  <a:schemeClr val="dk1"/>
                </a:solidFill>
              </a:rPr>
              <a:t>الإرشاد التنفيذي للقيادات العليا</a:t>
            </a:r>
            <a:endParaRPr b="1" sz="1300">
              <a:solidFill>
                <a:schemeClr val="dk1"/>
              </a:solidFill>
            </a:endParaRPr>
          </a:p>
          <a:p>
            <a:pPr indent="0" lvl="0" marL="0" rtl="1" algn="r">
              <a:lnSpc>
                <a:spcPct val="50000"/>
              </a:lnSpc>
              <a:spcBef>
                <a:spcPts val="1800"/>
              </a:spcBef>
              <a:spcAft>
                <a:spcPts val="0"/>
              </a:spcAft>
              <a:buNone/>
            </a:pPr>
            <a:r>
              <a:rPr lang="en" sz="1100">
                <a:solidFill>
                  <a:schemeClr val="dk1"/>
                </a:solidFill>
              </a:rPr>
              <a:t>تقديم جلسات إرشاد فردية وتفاعلية للقيادات التنفيذية، تركز على تطوير التفكير القيادي وجودة اتخاذ القرار.</a:t>
            </a:r>
            <a:endParaRPr sz="1100">
              <a:solidFill>
                <a:schemeClr val="dk1"/>
              </a:solidFill>
            </a:endParaRPr>
          </a:p>
          <a:p>
            <a:pPr indent="0" lvl="0" marL="0" rtl="1" algn="r">
              <a:lnSpc>
                <a:spcPct val="50000"/>
              </a:lnSpc>
              <a:spcBef>
                <a:spcPts val="1800"/>
              </a:spcBef>
              <a:spcAft>
                <a:spcPts val="0"/>
              </a:spcAft>
              <a:buNone/>
            </a:pPr>
            <a:r>
              <a:rPr b="1" lang="en" sz="1300">
                <a:solidFill>
                  <a:schemeClr val="dk1"/>
                </a:solidFill>
              </a:rPr>
              <a:t>بناء المسارات القيادية التخصصية</a:t>
            </a:r>
            <a:endParaRPr b="1" sz="1300">
              <a:solidFill>
                <a:schemeClr val="dk1"/>
              </a:solidFill>
            </a:endParaRPr>
          </a:p>
          <a:p>
            <a:pPr indent="0" lvl="0" marL="0" rtl="1" algn="r">
              <a:lnSpc>
                <a:spcPct val="50000"/>
              </a:lnSpc>
              <a:spcBef>
                <a:spcPts val="1800"/>
              </a:spcBef>
              <a:spcAft>
                <a:spcPts val="0"/>
              </a:spcAft>
              <a:buNone/>
            </a:pPr>
            <a:r>
              <a:rPr lang="en" sz="1100">
                <a:solidFill>
                  <a:schemeClr val="dk1"/>
                </a:solidFill>
              </a:rPr>
              <a:t>تطوير مسارات قيادية واضحة بحسب المستويات الوظيفية، تضمن إعداد قيادات مستقبلية قادرة على تحمّل المسؤوليات المتقدمة.</a:t>
            </a:r>
            <a:endParaRPr sz="1100">
              <a:solidFill>
                <a:schemeClr val="dk1"/>
              </a:solidFill>
            </a:endParaRPr>
          </a:p>
          <a:p>
            <a:pPr indent="0" lvl="0" marL="0" rtl="1" algn="r">
              <a:lnSpc>
                <a:spcPct val="50000"/>
              </a:lnSpc>
              <a:spcBef>
                <a:spcPts val="1800"/>
              </a:spcBef>
              <a:spcAft>
                <a:spcPts val="0"/>
              </a:spcAft>
              <a:buNone/>
            </a:pPr>
            <a:r>
              <a:rPr b="1" lang="en" sz="1300">
                <a:solidFill>
                  <a:schemeClr val="dk1"/>
                </a:solidFill>
              </a:rPr>
              <a:t>تطوير قدرات اتخاذ القرار</a:t>
            </a:r>
            <a:endParaRPr b="1" sz="1300">
              <a:solidFill>
                <a:schemeClr val="dk1"/>
              </a:solidFill>
            </a:endParaRPr>
          </a:p>
          <a:p>
            <a:pPr indent="0" lvl="0" marL="0" rtl="1" algn="r">
              <a:lnSpc>
                <a:spcPct val="50000"/>
              </a:lnSpc>
              <a:spcBef>
                <a:spcPts val="1800"/>
              </a:spcBef>
              <a:spcAft>
                <a:spcPts val="0"/>
              </a:spcAft>
              <a:buNone/>
            </a:pPr>
            <a:r>
              <a:rPr lang="en" sz="1100">
                <a:solidFill>
                  <a:schemeClr val="dk1"/>
                </a:solidFill>
              </a:rPr>
              <a:t>تنمية قدرات القادة على اتخاذ القرار في البيئات عالية التغيّر، من خلال تطبيقات عملية ومحاكاة واقعية للسيناريوهات القيادية.</a:t>
            </a:r>
            <a:endParaRPr sz="1100">
              <a:solidFill>
                <a:schemeClr val="dk1"/>
              </a:solidFill>
            </a:endParaRPr>
          </a:p>
          <a:p>
            <a:pPr indent="0" lvl="0" marL="0" rtl="1" algn="r">
              <a:lnSpc>
                <a:spcPct val="50000"/>
              </a:lnSpc>
              <a:spcBef>
                <a:spcPts val="1800"/>
              </a:spcBef>
              <a:spcAft>
                <a:spcPts val="0"/>
              </a:spcAft>
              <a:buNone/>
            </a:pPr>
            <a:r>
              <a:rPr b="1" lang="en" sz="1300">
                <a:solidFill>
                  <a:schemeClr val="dk1"/>
                </a:solidFill>
              </a:rPr>
              <a:t>ربط الأداء القيادي بالأداء المؤسسي</a:t>
            </a:r>
            <a:endParaRPr b="1" sz="1300">
              <a:solidFill>
                <a:schemeClr val="dk1"/>
              </a:solidFill>
            </a:endParaRPr>
          </a:p>
          <a:p>
            <a:pPr indent="0" lvl="0" marL="0" rtl="1" algn="r">
              <a:lnSpc>
                <a:spcPct val="50000"/>
              </a:lnSpc>
              <a:spcBef>
                <a:spcPts val="1800"/>
              </a:spcBef>
              <a:spcAft>
                <a:spcPts val="0"/>
              </a:spcAft>
              <a:buNone/>
            </a:pPr>
            <a:r>
              <a:rPr lang="en" sz="1100">
                <a:solidFill>
                  <a:schemeClr val="dk1"/>
                </a:solidFill>
              </a:rPr>
              <a:t>مواءمة مخرجات التطوير القيادي مع مؤشرات الأداء المؤسسي، لضمان تحقيق أثر ملموس وقابل للقياس.</a:t>
            </a:r>
            <a:endParaRPr sz="1100">
              <a:solidFill>
                <a:schemeClr val="dk1"/>
              </a:solidFill>
            </a:endParaRPr>
          </a:p>
          <a:p>
            <a:pPr indent="0" lvl="0" marL="457200" rtl="1" algn="r">
              <a:spcBef>
                <a:spcPts val="1200"/>
              </a:spcBef>
              <a:spcAft>
                <a:spcPts val="1200"/>
              </a:spcAft>
              <a:buNone/>
            </a:pPr>
            <a:r>
              <a:t/>
            </a:r>
            <a:endParaRPr b="1" sz="1252">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248400"/>
            <a:ext cx="8520600" cy="572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en"/>
              <a:t>التمكين القيادي</a:t>
            </a:r>
            <a:endParaRPr/>
          </a:p>
        </p:txBody>
      </p:sp>
      <p:sp>
        <p:nvSpPr>
          <p:cNvPr id="127" name="Google Shape;127;p25"/>
          <p:cNvSpPr txBox="1"/>
          <p:nvPr>
            <p:ph idx="1" type="body"/>
          </p:nvPr>
        </p:nvSpPr>
        <p:spPr>
          <a:xfrm>
            <a:off x="311700" y="1193900"/>
            <a:ext cx="8520600" cy="3416400"/>
          </a:xfrm>
          <a:prstGeom prst="rect">
            <a:avLst/>
          </a:prstGeom>
        </p:spPr>
        <p:txBody>
          <a:bodyPr anchorCtr="0" anchor="t" bIns="91425" lIns="91425" spcFirstLastPara="1" rIns="91425" wrap="square" tIns="91425">
            <a:noAutofit/>
          </a:bodyPr>
          <a:lstStyle/>
          <a:p>
            <a:pPr indent="0" lvl="0" marL="0" rtl="1" algn="r">
              <a:spcBef>
                <a:spcPts val="1800"/>
              </a:spcBef>
              <a:spcAft>
                <a:spcPts val="0"/>
              </a:spcAft>
              <a:buNone/>
            </a:pPr>
            <a:r>
              <a:rPr b="1" lang="en" sz="1700">
                <a:solidFill>
                  <a:schemeClr val="dk1"/>
                </a:solidFill>
              </a:rPr>
              <a:t>المنهجية المتبعة:</a:t>
            </a:r>
            <a:endParaRPr b="1" sz="1700">
              <a:solidFill>
                <a:schemeClr val="dk1"/>
              </a:solidFill>
            </a:endParaRPr>
          </a:p>
          <a:p>
            <a:pPr indent="0" lvl="0" marL="0" rtl="1" algn="r">
              <a:lnSpc>
                <a:spcPct val="50000"/>
              </a:lnSpc>
              <a:spcBef>
                <a:spcPts val="1400"/>
              </a:spcBef>
              <a:spcAft>
                <a:spcPts val="0"/>
              </a:spcAft>
              <a:buNone/>
            </a:pPr>
            <a:r>
              <a:rPr b="1" lang="en" sz="1300">
                <a:solidFill>
                  <a:schemeClr val="dk1"/>
                </a:solidFill>
              </a:rPr>
              <a:t>1. التشخيص والتقييم القيادي</a:t>
            </a:r>
            <a:endParaRPr b="1" sz="1300">
              <a:solidFill>
                <a:schemeClr val="dk1"/>
              </a:solidFill>
            </a:endParaRPr>
          </a:p>
          <a:p>
            <a:pPr indent="0" lvl="0" marL="0" rtl="1" algn="r">
              <a:lnSpc>
                <a:spcPct val="50000"/>
              </a:lnSpc>
              <a:spcBef>
                <a:spcPts val="1400"/>
              </a:spcBef>
              <a:spcAft>
                <a:spcPts val="0"/>
              </a:spcAft>
              <a:buNone/>
            </a:pPr>
            <a:r>
              <a:rPr lang="en" sz="1100">
                <a:solidFill>
                  <a:schemeClr val="dk1"/>
                </a:solidFill>
              </a:rPr>
              <a:t>تقييم شامل للقدرات القيادية باستخدام أدوات تحليل متقدمة، لقياس الجاهزية القيادية وتحديد فجوات الأداء والسلوك القيادي.</a:t>
            </a:r>
            <a:endParaRPr sz="1100">
              <a:solidFill>
                <a:schemeClr val="dk1"/>
              </a:solidFill>
            </a:endParaRPr>
          </a:p>
          <a:p>
            <a:pPr indent="0" lvl="0" marL="0" rtl="1" algn="r">
              <a:lnSpc>
                <a:spcPct val="50000"/>
              </a:lnSpc>
              <a:spcBef>
                <a:spcPts val="1400"/>
              </a:spcBef>
              <a:spcAft>
                <a:spcPts val="0"/>
              </a:spcAft>
              <a:buNone/>
            </a:pPr>
            <a:r>
              <a:rPr b="1" lang="en" sz="1300">
                <a:solidFill>
                  <a:schemeClr val="dk1"/>
                </a:solidFill>
              </a:rPr>
              <a:t>2. التصميم والتخصيص</a:t>
            </a:r>
            <a:endParaRPr b="1" sz="1300">
              <a:solidFill>
                <a:schemeClr val="dk1"/>
              </a:solidFill>
            </a:endParaRPr>
          </a:p>
          <a:p>
            <a:pPr indent="0" lvl="0" marL="0" rtl="1" algn="r">
              <a:lnSpc>
                <a:spcPct val="50000"/>
              </a:lnSpc>
              <a:spcBef>
                <a:spcPts val="1400"/>
              </a:spcBef>
              <a:spcAft>
                <a:spcPts val="0"/>
              </a:spcAft>
              <a:buNone/>
            </a:pPr>
            <a:r>
              <a:rPr lang="en" sz="1100">
                <a:solidFill>
                  <a:schemeClr val="dk1"/>
                </a:solidFill>
              </a:rPr>
              <a:t>تصميم برامج تطوير ومسارات قيادية مخصّصة تنطلق من احتياجات الجهة، وتراعي السياق التنظيمي والأولويات الاستراتيجية.</a:t>
            </a:r>
            <a:endParaRPr sz="1100">
              <a:solidFill>
                <a:schemeClr val="dk1"/>
              </a:solidFill>
            </a:endParaRPr>
          </a:p>
          <a:p>
            <a:pPr indent="0" lvl="0" marL="0" rtl="1" algn="r">
              <a:lnSpc>
                <a:spcPct val="50000"/>
              </a:lnSpc>
              <a:spcBef>
                <a:spcPts val="1400"/>
              </a:spcBef>
              <a:spcAft>
                <a:spcPts val="0"/>
              </a:spcAft>
              <a:buNone/>
            </a:pPr>
            <a:r>
              <a:rPr b="1" lang="en" sz="1300">
                <a:solidFill>
                  <a:schemeClr val="dk1"/>
                </a:solidFill>
              </a:rPr>
              <a:t>3. التطوير والتطبيق</a:t>
            </a:r>
            <a:endParaRPr b="1" sz="1300">
              <a:solidFill>
                <a:schemeClr val="dk1"/>
              </a:solidFill>
            </a:endParaRPr>
          </a:p>
          <a:p>
            <a:pPr indent="0" lvl="0" marL="0" rtl="1" algn="r">
              <a:lnSpc>
                <a:spcPct val="50000"/>
              </a:lnSpc>
              <a:spcBef>
                <a:spcPts val="1400"/>
              </a:spcBef>
              <a:spcAft>
                <a:spcPts val="0"/>
              </a:spcAft>
              <a:buNone/>
            </a:pPr>
            <a:r>
              <a:rPr lang="en" sz="1100">
                <a:solidFill>
                  <a:schemeClr val="dk1"/>
                </a:solidFill>
              </a:rPr>
              <a:t>تنفيذ برامج التطوير عبر أساليب تفاعلية، تشمل الإرشاد التنفيذي، وورش العمل التطبيقية، والمحاكاة القيادية الواقعية.</a:t>
            </a:r>
            <a:endParaRPr sz="1100">
              <a:solidFill>
                <a:schemeClr val="dk1"/>
              </a:solidFill>
            </a:endParaRPr>
          </a:p>
          <a:p>
            <a:pPr indent="0" lvl="0" marL="0" rtl="1" algn="r">
              <a:lnSpc>
                <a:spcPct val="50000"/>
              </a:lnSpc>
              <a:spcBef>
                <a:spcPts val="1400"/>
              </a:spcBef>
              <a:spcAft>
                <a:spcPts val="0"/>
              </a:spcAft>
              <a:buNone/>
            </a:pPr>
            <a:r>
              <a:rPr b="1" lang="en" sz="1300">
                <a:solidFill>
                  <a:schemeClr val="dk1"/>
                </a:solidFill>
              </a:rPr>
              <a:t>4. التمكين واتخاذ القرار</a:t>
            </a:r>
            <a:endParaRPr b="1" sz="1300">
              <a:solidFill>
                <a:schemeClr val="dk1"/>
              </a:solidFill>
            </a:endParaRPr>
          </a:p>
          <a:p>
            <a:pPr indent="0" lvl="0" marL="0" rtl="1" algn="r">
              <a:lnSpc>
                <a:spcPct val="50000"/>
              </a:lnSpc>
              <a:spcBef>
                <a:spcPts val="1400"/>
              </a:spcBef>
              <a:spcAft>
                <a:spcPts val="0"/>
              </a:spcAft>
              <a:buNone/>
            </a:pPr>
            <a:r>
              <a:rPr lang="en" sz="1100">
                <a:solidFill>
                  <a:schemeClr val="dk1"/>
                </a:solidFill>
              </a:rPr>
              <a:t>تعزيز قدرات القادة على اتخاذ القرار في البيئات عالية التغيّر، من خلال تجارب عملية ومحاكاة سيناريوهات معقّدة.</a:t>
            </a:r>
            <a:endParaRPr sz="1100">
              <a:solidFill>
                <a:schemeClr val="dk1"/>
              </a:solidFill>
            </a:endParaRPr>
          </a:p>
          <a:p>
            <a:pPr indent="0" lvl="0" marL="0" rtl="1" algn="r">
              <a:lnSpc>
                <a:spcPct val="50000"/>
              </a:lnSpc>
              <a:spcBef>
                <a:spcPts val="1400"/>
              </a:spcBef>
              <a:spcAft>
                <a:spcPts val="0"/>
              </a:spcAft>
              <a:buNone/>
            </a:pPr>
            <a:r>
              <a:rPr b="1" lang="en" sz="1300">
                <a:solidFill>
                  <a:schemeClr val="dk1"/>
                </a:solidFill>
              </a:rPr>
              <a:t>5. القياس والاستدامة</a:t>
            </a:r>
            <a:endParaRPr b="1" sz="1300">
              <a:solidFill>
                <a:schemeClr val="dk1"/>
              </a:solidFill>
            </a:endParaRPr>
          </a:p>
          <a:p>
            <a:pPr indent="0" lvl="0" marL="0" rtl="1" algn="r">
              <a:lnSpc>
                <a:spcPct val="50000"/>
              </a:lnSpc>
              <a:spcBef>
                <a:spcPts val="1400"/>
              </a:spcBef>
              <a:spcAft>
                <a:spcPts val="0"/>
              </a:spcAft>
              <a:buNone/>
            </a:pPr>
            <a:r>
              <a:rPr lang="en" sz="1100">
                <a:solidFill>
                  <a:schemeClr val="dk1"/>
                </a:solidFill>
              </a:rPr>
              <a:t>ربط مخرجات التطوير القيادي بمؤشرات الأداء المؤسسي، وقياس الأثر، وضمان التحسين المستمر واستدامة النتائج.</a:t>
            </a:r>
            <a:endParaRPr sz="1100">
              <a:solidFill>
                <a:schemeClr val="dk1"/>
              </a:solidFill>
            </a:endParaRPr>
          </a:p>
          <a:p>
            <a:pPr indent="0" lvl="0" marL="0" rtl="1" algn="r">
              <a:lnSpc>
                <a:spcPct val="50000"/>
              </a:lnSpc>
              <a:spcBef>
                <a:spcPts val="1400"/>
              </a:spcBef>
              <a:spcAft>
                <a:spcPts val="0"/>
              </a:spcAft>
              <a:buNone/>
            </a:pPr>
            <a:r>
              <a:t/>
            </a:r>
            <a:endParaRPr sz="1100">
              <a:solidFill>
                <a:schemeClr val="dk1"/>
              </a:solidFill>
            </a:endParaRPr>
          </a:p>
          <a:p>
            <a:pPr indent="0" lvl="0" marL="0" rtl="1" algn="r">
              <a:spcBef>
                <a:spcPts val="1200"/>
              </a:spcBef>
              <a:spcAft>
                <a:spcPts val="1200"/>
              </a:spcAft>
              <a:buNone/>
            </a:pPr>
            <a:r>
              <a:t/>
            </a:r>
            <a:endParaRPr b="1" sz="1252">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lnSpc>
                <a:spcPct val="115000"/>
              </a:lnSpc>
              <a:spcBef>
                <a:spcPts val="1800"/>
              </a:spcBef>
              <a:spcAft>
                <a:spcPts val="0"/>
              </a:spcAft>
              <a:buClr>
                <a:schemeClr val="dk1"/>
              </a:buClr>
              <a:buSzPct val="64705"/>
              <a:buFont typeface="Arial"/>
              <a:buNone/>
            </a:pPr>
            <a:r>
              <a:rPr b="1" lang="en" sz="1700"/>
              <a:t>فريق العمل</a:t>
            </a:r>
            <a:endParaRPr b="1" sz="1700"/>
          </a:p>
          <a:p>
            <a:pPr indent="0" lvl="0" marL="0" rtl="1" algn="r">
              <a:lnSpc>
                <a:spcPct val="115000"/>
              </a:lnSpc>
              <a:spcBef>
                <a:spcPts val="1200"/>
              </a:spcBef>
              <a:spcAft>
                <a:spcPts val="0"/>
              </a:spcAft>
              <a:buClr>
                <a:schemeClr val="dk1"/>
              </a:buClr>
              <a:buSzPct val="100000"/>
              <a:buFont typeface="Arial"/>
              <a:buNone/>
            </a:pPr>
            <a:r>
              <a:rPr b="1" lang="en" sz="1100"/>
              <a:t>يمتلك أعضاء الفريق خبرة عملية في تنفيذ مشاريع تحول مع جهات حكومية وشركات كبرى، ويعملون بأسلوب تكاملي يجمع بين التحليل الاستراتيجي والخبرة التطبيقية لضمان واقعية الحلول وقابليتها للتنفيذ.</a:t>
            </a:r>
            <a:endParaRPr b="1" sz="1100"/>
          </a:p>
          <a:p>
            <a:pPr indent="0" lvl="0" marL="0" rtl="0" algn="l">
              <a:spcBef>
                <a:spcPts val="1200"/>
              </a:spcBef>
              <a:spcAft>
                <a:spcPts val="0"/>
              </a:spcAft>
              <a:buNone/>
            </a:pPr>
            <a:r>
              <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1" algn="r">
              <a:spcBef>
                <a:spcPts val="1200"/>
              </a:spcBef>
              <a:spcAft>
                <a:spcPts val="0"/>
              </a:spcAft>
              <a:buNone/>
            </a:pPr>
            <a:r>
              <a:t/>
            </a:r>
            <a:endParaRPr b="1" i="1">
              <a:solidFill>
                <a:schemeClr val="dk1"/>
              </a:solidFill>
            </a:endParaRPr>
          </a:p>
          <a:p>
            <a:pPr indent="0" lvl="0" marL="0" rtl="1" algn="r">
              <a:spcBef>
                <a:spcPts val="1200"/>
              </a:spcBef>
              <a:spcAft>
                <a:spcPts val="0"/>
              </a:spcAft>
              <a:buNone/>
            </a:pPr>
            <a:r>
              <a:t/>
            </a:r>
            <a:endParaRPr b="1" i="1">
              <a:solidFill>
                <a:schemeClr val="dk1"/>
              </a:solidFill>
            </a:endParaRPr>
          </a:p>
          <a:p>
            <a:pPr indent="0" lvl="0" marL="0" rtl="1" algn="r">
              <a:spcBef>
                <a:spcPts val="1200"/>
              </a:spcBef>
              <a:spcAft>
                <a:spcPts val="0"/>
              </a:spcAft>
              <a:buClr>
                <a:schemeClr val="dk1"/>
              </a:buClr>
              <a:buSzPts val="1100"/>
              <a:buFont typeface="Arial"/>
              <a:buNone/>
            </a:pPr>
            <a:r>
              <a:rPr b="1" i="1" lang="en">
                <a:solidFill>
                  <a:schemeClr val="dk1"/>
                </a:solidFill>
              </a:rPr>
              <a:t>قالب معلومات فريق العمل</a:t>
            </a:r>
            <a:endParaRPr b="1" i="1">
              <a:solidFill>
                <a:schemeClr val="dk1"/>
              </a:solidFill>
            </a:endParaRPr>
          </a:p>
          <a:p>
            <a:pPr indent="0" lvl="0" marL="0" rtl="1" algn="r">
              <a:spcBef>
                <a:spcPts val="1200"/>
              </a:spcBef>
              <a:spcAft>
                <a:spcPts val="0"/>
              </a:spcAft>
              <a:buClr>
                <a:schemeClr val="dk1"/>
              </a:buClr>
              <a:buSzPts val="1100"/>
              <a:buFont typeface="Arial"/>
              <a:buNone/>
            </a:pPr>
            <a:r>
              <a:rPr b="1" i="1" lang="en" sz="1200">
                <a:solidFill>
                  <a:schemeClr val="dk1"/>
                </a:solidFill>
              </a:rPr>
              <a:t>صورة الشخص</a:t>
            </a:r>
            <a:endParaRPr b="1" i="1" sz="1200">
              <a:solidFill>
                <a:schemeClr val="dk1"/>
              </a:solidFill>
            </a:endParaRPr>
          </a:p>
          <a:p>
            <a:pPr indent="0" lvl="0" marL="0" rtl="1" algn="r">
              <a:spcBef>
                <a:spcPts val="1200"/>
              </a:spcBef>
              <a:spcAft>
                <a:spcPts val="0"/>
              </a:spcAft>
              <a:buClr>
                <a:schemeClr val="dk1"/>
              </a:buClr>
              <a:buSzPts val="1100"/>
              <a:buFont typeface="Arial"/>
              <a:buNone/>
            </a:pPr>
            <a:r>
              <a:rPr b="1" i="1" lang="en" sz="1200">
                <a:solidFill>
                  <a:schemeClr val="dk1"/>
                </a:solidFill>
              </a:rPr>
              <a:t>اسم الشخص</a:t>
            </a:r>
            <a:endParaRPr b="1" i="1" sz="1200">
              <a:solidFill>
                <a:schemeClr val="dk1"/>
              </a:solidFill>
            </a:endParaRPr>
          </a:p>
          <a:p>
            <a:pPr indent="0" lvl="0" marL="0" rtl="1" algn="r">
              <a:spcBef>
                <a:spcPts val="1200"/>
              </a:spcBef>
              <a:spcAft>
                <a:spcPts val="0"/>
              </a:spcAft>
              <a:buClr>
                <a:schemeClr val="dk1"/>
              </a:buClr>
              <a:buSzPts val="1100"/>
              <a:buFont typeface="Arial"/>
              <a:buNone/>
            </a:pPr>
            <a:r>
              <a:rPr b="1" i="1" lang="en" sz="1200">
                <a:solidFill>
                  <a:schemeClr val="dk1"/>
                </a:solidFill>
              </a:rPr>
              <a:t>نبذة بسيطة لا تتعدة 5 اسطر</a:t>
            </a:r>
            <a:endParaRPr b="1" i="1" sz="12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idx="1" type="body"/>
          </p:nvPr>
        </p:nvSpPr>
        <p:spPr>
          <a:xfrm>
            <a:off x="311700" y="1940025"/>
            <a:ext cx="8520600" cy="262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1" algn="r">
              <a:spcBef>
                <a:spcPts val="1200"/>
              </a:spcBef>
              <a:spcAft>
                <a:spcPts val="0"/>
              </a:spcAft>
              <a:buClr>
                <a:schemeClr val="dk1"/>
              </a:buClr>
              <a:buSzPts val="1100"/>
              <a:buFont typeface="Arial"/>
              <a:buNone/>
            </a:pPr>
            <a:r>
              <a:rPr b="1" i="1" lang="en">
                <a:solidFill>
                  <a:schemeClr val="dk1"/>
                </a:solidFill>
              </a:rPr>
              <a:t>شعارات العملاء (استناد للبروفايل القديم)</a:t>
            </a:r>
            <a:endParaRPr sz="1100">
              <a:solidFill>
                <a:schemeClr val="dk1"/>
              </a:solidFill>
            </a:endParaRPr>
          </a:p>
          <a:p>
            <a:pPr indent="0" lvl="0" marL="0" rtl="0" algn="l">
              <a:spcBef>
                <a:spcPts val="1200"/>
              </a:spcBef>
              <a:spcAft>
                <a:spcPts val="1200"/>
              </a:spcAft>
              <a:buNone/>
            </a:pPr>
            <a:r>
              <a:t/>
            </a:r>
            <a:endParaRPr/>
          </a:p>
        </p:txBody>
      </p:sp>
      <p:sp>
        <p:nvSpPr>
          <p:cNvPr id="139" name="Google Shape;139;p27"/>
          <p:cNvSpPr txBox="1"/>
          <p:nvPr>
            <p:ph type="title"/>
          </p:nvPr>
        </p:nvSpPr>
        <p:spPr>
          <a:xfrm>
            <a:off x="376900" y="216775"/>
            <a:ext cx="8520600" cy="1291200"/>
          </a:xfrm>
          <a:prstGeom prst="rect">
            <a:avLst/>
          </a:prstGeom>
        </p:spPr>
        <p:txBody>
          <a:bodyPr anchorCtr="0" anchor="t" bIns="91425" lIns="91425" spcFirstLastPara="1" rIns="91425" wrap="square" tIns="91425">
            <a:normAutofit/>
          </a:bodyPr>
          <a:lstStyle/>
          <a:p>
            <a:pPr indent="0" lvl="0" marL="0" rtl="1" algn="r">
              <a:lnSpc>
                <a:spcPct val="115000"/>
              </a:lnSpc>
              <a:spcBef>
                <a:spcPts val="1800"/>
              </a:spcBef>
              <a:spcAft>
                <a:spcPts val="0"/>
              </a:spcAft>
              <a:buClr>
                <a:schemeClr val="dk1"/>
              </a:buClr>
              <a:buSzPts val="1100"/>
              <a:buFont typeface="Arial"/>
              <a:buNone/>
            </a:pPr>
            <a:r>
              <a:rPr b="1" lang="en" sz="1700"/>
              <a:t>عملاؤنا</a:t>
            </a:r>
            <a:endParaRPr b="1" sz="1700"/>
          </a:p>
          <a:p>
            <a:pPr indent="0" lvl="0" marL="0" rtl="1" algn="r">
              <a:lnSpc>
                <a:spcPct val="115000"/>
              </a:lnSpc>
              <a:spcBef>
                <a:spcPts val="1200"/>
              </a:spcBef>
              <a:spcAft>
                <a:spcPts val="1200"/>
              </a:spcAft>
              <a:buClr>
                <a:schemeClr val="dk1"/>
              </a:buClr>
              <a:buSzPts val="1100"/>
              <a:buFont typeface="Arial"/>
              <a:buNone/>
            </a:pPr>
            <a:r>
              <a:rPr lang="en" sz="1100"/>
              <a:t>عمل فريقنا على تنفيذ مشاريع سابقة مع نخبة من العملاء في مختلف القطاعات حيث </a:t>
            </a:r>
            <a:r>
              <a:rPr lang="en" sz="1100"/>
              <a:t>أثمرت</a:t>
            </a:r>
            <a:r>
              <a:rPr lang="en" sz="1100"/>
              <a:t> </a:t>
            </a:r>
            <a:r>
              <a:rPr lang="en" sz="1100"/>
              <a:t>هذه</a:t>
            </a:r>
            <a:r>
              <a:rPr lang="en" sz="1100"/>
              <a:t> </a:t>
            </a:r>
            <a:r>
              <a:rPr lang="en" sz="1100"/>
              <a:t>الأعمال</a:t>
            </a:r>
            <a:r>
              <a:rPr lang="en" sz="1100"/>
              <a:t> عن تجارب ناجحة وخبرات عميقة في تطوير </a:t>
            </a:r>
            <a:r>
              <a:rPr lang="en" sz="1100"/>
              <a:t>الأداء</a:t>
            </a:r>
            <a:r>
              <a:rPr lang="en" sz="1100"/>
              <a:t> المؤسسي. تشمل هذه الجهات: كيانات حكومية, شركات خاصة ,منظمات غير ربحية وجهات </a:t>
            </a:r>
            <a:r>
              <a:rPr lang="en" sz="1100"/>
              <a:t>أكاديمية</a:t>
            </a:r>
            <a:r>
              <a:rPr lang="en" sz="1100"/>
              <a:t>. يفخر فريقنا بالمساهمة في تقديم الحلول المتميزة لهم.</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r">
              <a:lnSpc>
                <a:spcPct val="115000"/>
              </a:lnSpc>
              <a:spcBef>
                <a:spcPts val="1800"/>
              </a:spcBef>
              <a:spcAft>
                <a:spcPts val="0"/>
              </a:spcAft>
              <a:buClr>
                <a:schemeClr val="dk1"/>
              </a:buClr>
              <a:buSzPct val="64705"/>
              <a:buFont typeface="Arial"/>
              <a:buNone/>
            </a:pPr>
            <a:r>
              <a:rPr b="1" lang="en" sz="1700"/>
              <a:t>دراسة الحالة</a:t>
            </a:r>
            <a:endParaRPr b="1" sz="1700"/>
          </a:p>
          <a:p>
            <a:pPr indent="0" lvl="0" marL="0" rtl="1" algn="r">
              <a:lnSpc>
                <a:spcPct val="115000"/>
              </a:lnSpc>
              <a:spcBef>
                <a:spcPts val="1200"/>
              </a:spcBef>
              <a:spcAft>
                <a:spcPts val="1200"/>
              </a:spcAft>
              <a:buClr>
                <a:schemeClr val="dk1"/>
              </a:buClr>
              <a:buSzPct val="100000"/>
              <a:buFont typeface="Arial"/>
              <a:buNone/>
            </a:pPr>
            <a:r>
              <a:rPr lang="en" sz="1100"/>
              <a:t>عمل فريقنا مع نخبة من الجهات الحكومية، وشبه الحكومية، والقطاع الخاص، والقطاع غير الربحي، وساهم في تنفيذ مشاريع تطوير مؤسسي وقيادي أحدثت أثرًا ملموسًا ومستدامًا.</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1" algn="r">
              <a:lnSpc>
                <a:spcPct val="95000"/>
              </a:lnSpc>
              <a:spcBef>
                <a:spcPts val="1200"/>
              </a:spcBef>
              <a:spcAft>
                <a:spcPts val="0"/>
              </a:spcAft>
              <a:buSzPts val="523"/>
              <a:buNone/>
            </a:pPr>
            <a:r>
              <a:rPr lang="en" sz="1055">
                <a:solidFill>
                  <a:schemeClr val="dk1"/>
                </a:solidFill>
              </a:rPr>
              <a:t>القطاع:</a:t>
            </a:r>
            <a:endParaRPr sz="1055">
              <a:solidFill>
                <a:schemeClr val="dk1"/>
              </a:solidFill>
            </a:endParaRPr>
          </a:p>
          <a:p>
            <a:pPr indent="0" lvl="0" marL="0" rtl="1" algn="r">
              <a:lnSpc>
                <a:spcPct val="95000"/>
              </a:lnSpc>
              <a:spcBef>
                <a:spcPts val="1200"/>
              </a:spcBef>
              <a:spcAft>
                <a:spcPts val="0"/>
              </a:spcAft>
              <a:buSzPts val="523"/>
              <a:buNone/>
            </a:pPr>
            <a:r>
              <a:rPr lang="en" sz="1055">
                <a:solidFill>
                  <a:schemeClr val="dk1"/>
                </a:solidFill>
              </a:rPr>
              <a:t>حجم الجهة:</a:t>
            </a:r>
            <a:endParaRPr sz="1055">
              <a:solidFill>
                <a:schemeClr val="dk1"/>
              </a:solidFill>
            </a:endParaRPr>
          </a:p>
          <a:p>
            <a:pPr indent="0" lvl="0" marL="0" rtl="1" algn="r">
              <a:lnSpc>
                <a:spcPct val="95000"/>
              </a:lnSpc>
              <a:spcBef>
                <a:spcPts val="1200"/>
              </a:spcBef>
              <a:spcAft>
                <a:spcPts val="0"/>
              </a:spcAft>
              <a:buSzPts val="523"/>
              <a:buNone/>
            </a:pPr>
            <a:r>
              <a:rPr lang="en" sz="1055">
                <a:solidFill>
                  <a:schemeClr val="dk1"/>
                </a:solidFill>
              </a:rPr>
              <a:t>التحدي:</a:t>
            </a:r>
            <a:endParaRPr sz="1055">
              <a:solidFill>
                <a:schemeClr val="dk1"/>
              </a:solidFill>
            </a:endParaRPr>
          </a:p>
          <a:p>
            <a:pPr indent="0" lvl="0" marL="0" rtl="1" algn="r">
              <a:lnSpc>
                <a:spcPct val="95000"/>
              </a:lnSpc>
              <a:spcBef>
                <a:spcPts val="1200"/>
              </a:spcBef>
              <a:spcAft>
                <a:spcPts val="0"/>
              </a:spcAft>
              <a:buSzPts val="523"/>
              <a:buNone/>
            </a:pPr>
            <a:r>
              <a:rPr lang="en" sz="1055">
                <a:solidFill>
                  <a:schemeClr val="dk1"/>
                </a:solidFill>
              </a:rPr>
              <a:t>التدخل الاستشاري:</a:t>
            </a:r>
            <a:endParaRPr sz="1055">
              <a:solidFill>
                <a:schemeClr val="dk1"/>
              </a:solidFill>
            </a:endParaRPr>
          </a:p>
          <a:p>
            <a:pPr indent="0" lvl="0" marL="0" rtl="1" algn="r">
              <a:lnSpc>
                <a:spcPct val="95000"/>
              </a:lnSpc>
              <a:spcBef>
                <a:spcPts val="1200"/>
              </a:spcBef>
              <a:spcAft>
                <a:spcPts val="0"/>
              </a:spcAft>
              <a:buSzPts val="523"/>
              <a:buNone/>
            </a:pPr>
            <a:r>
              <a:rPr lang="en" sz="1055">
                <a:solidFill>
                  <a:schemeClr val="dk1"/>
                </a:solidFill>
              </a:rPr>
              <a:t>النتائج المحققة:</a:t>
            </a:r>
            <a:endParaRPr sz="1055">
              <a:solidFill>
                <a:schemeClr val="dk1"/>
              </a:solidFill>
            </a:endParaRPr>
          </a:p>
          <a:p>
            <a:pPr indent="0" lvl="0" marL="0" rtl="1" algn="r">
              <a:lnSpc>
                <a:spcPct val="95000"/>
              </a:lnSpc>
              <a:spcBef>
                <a:spcPts val="1200"/>
              </a:spcBef>
              <a:spcAft>
                <a:spcPts val="0"/>
              </a:spcAft>
              <a:buSzPts val="523"/>
              <a:buNone/>
            </a:pPr>
            <a:r>
              <a:t/>
            </a:r>
            <a:endParaRPr b="1" i="1" sz="1055">
              <a:solidFill>
                <a:schemeClr val="dk1"/>
              </a:solidFill>
            </a:endParaRPr>
          </a:p>
          <a:p>
            <a:pPr indent="0" lvl="0" marL="0" rtl="1" algn="r">
              <a:lnSpc>
                <a:spcPct val="95000"/>
              </a:lnSpc>
              <a:spcBef>
                <a:spcPts val="1200"/>
              </a:spcBef>
              <a:spcAft>
                <a:spcPts val="0"/>
              </a:spcAft>
              <a:buSzPts val="523"/>
              <a:buNone/>
            </a:pPr>
            <a:r>
              <a:t/>
            </a:r>
            <a:endParaRPr b="1" i="1" sz="1055">
              <a:solidFill>
                <a:schemeClr val="dk1"/>
              </a:solidFill>
            </a:endParaRPr>
          </a:p>
          <a:p>
            <a:pPr indent="0" lvl="0" marL="0" rtl="1" algn="r">
              <a:lnSpc>
                <a:spcPct val="95000"/>
              </a:lnSpc>
              <a:spcBef>
                <a:spcPts val="1200"/>
              </a:spcBef>
              <a:spcAft>
                <a:spcPts val="0"/>
              </a:spcAft>
              <a:buClr>
                <a:schemeClr val="dk1"/>
              </a:buClr>
              <a:buSzPts val="523"/>
              <a:buFont typeface="Arial"/>
              <a:buNone/>
            </a:pPr>
            <a:r>
              <a:rPr b="1" i="1" lang="en" sz="1055">
                <a:solidFill>
                  <a:schemeClr val="dk1"/>
                </a:solidFill>
              </a:rPr>
              <a:t>كل دراسة لها صفحة</a:t>
            </a:r>
            <a:endParaRPr sz="722">
              <a:solidFill>
                <a:schemeClr val="dk1"/>
              </a:solidFill>
            </a:endParaRPr>
          </a:p>
          <a:p>
            <a:pPr indent="0" lvl="0" marL="0" rtl="0" algn="l">
              <a:lnSpc>
                <a:spcPct val="95000"/>
              </a:lnSpc>
              <a:spcBef>
                <a:spcPts val="1200"/>
              </a:spcBef>
              <a:spcAft>
                <a:spcPts val="1200"/>
              </a:spcAft>
              <a:buSzPts val="523"/>
              <a:buNone/>
            </a:pPr>
            <a:r>
              <a:t/>
            </a:r>
            <a:endParaRPr sz="1055"/>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546150"/>
            <a:ext cx="8520600" cy="572700"/>
          </a:xfrm>
          <a:prstGeom prst="rect">
            <a:avLst/>
          </a:prstGeom>
        </p:spPr>
        <p:txBody>
          <a:bodyPr anchorCtr="0" anchor="t" bIns="91425" lIns="91425" spcFirstLastPara="1" rIns="91425" wrap="square" tIns="91425">
            <a:normAutofit fontScale="90000"/>
          </a:bodyPr>
          <a:lstStyle/>
          <a:p>
            <a:pPr indent="0" lvl="0" marL="0" rtl="1" algn="r">
              <a:lnSpc>
                <a:spcPct val="115000"/>
              </a:lnSpc>
              <a:spcBef>
                <a:spcPts val="1800"/>
              </a:spcBef>
              <a:spcAft>
                <a:spcPts val="0"/>
              </a:spcAft>
              <a:buClr>
                <a:schemeClr val="dk1"/>
              </a:buClr>
              <a:buSzPct val="64705"/>
              <a:buFont typeface="Arial"/>
              <a:buNone/>
            </a:pPr>
            <a:r>
              <a:rPr b="1" lang="en" sz="1700"/>
              <a:t>موقعنا التنافسي</a:t>
            </a:r>
            <a:endParaRPr b="1" sz="1700"/>
          </a:p>
          <a:p>
            <a:pPr indent="0" lvl="0" marL="0" rtl="0" algn="l">
              <a:spcBef>
                <a:spcPts val="400"/>
              </a:spcBef>
              <a:spcAft>
                <a:spcPts val="0"/>
              </a:spcAft>
              <a:buNone/>
            </a:pPr>
            <a:r>
              <a:t/>
            </a:r>
            <a:endParaRPr/>
          </a:p>
        </p:txBody>
      </p:sp>
      <p:sp>
        <p:nvSpPr>
          <p:cNvPr id="151" name="Google Shape;151;p29"/>
          <p:cNvSpPr txBox="1"/>
          <p:nvPr>
            <p:ph idx="1" type="body"/>
          </p:nvPr>
        </p:nvSpPr>
        <p:spPr>
          <a:xfrm>
            <a:off x="311700" y="2007225"/>
            <a:ext cx="8520600" cy="2561700"/>
          </a:xfrm>
          <a:prstGeom prst="rect">
            <a:avLst/>
          </a:prstGeom>
        </p:spPr>
        <p:txBody>
          <a:bodyPr anchorCtr="0" anchor="t" bIns="91425" lIns="91425" spcFirstLastPara="1" rIns="91425" wrap="square" tIns="91425">
            <a:normAutofit/>
          </a:bodyPr>
          <a:lstStyle/>
          <a:p>
            <a:pPr indent="0" lvl="0" marL="0" rtl="1" algn="r">
              <a:spcBef>
                <a:spcPts val="1200"/>
              </a:spcBef>
              <a:spcAft>
                <a:spcPts val="0"/>
              </a:spcAft>
              <a:buNone/>
            </a:pPr>
            <a:r>
              <a:rPr b="1" lang="en" sz="1100">
                <a:solidFill>
                  <a:schemeClr val="dk1"/>
                </a:solidFill>
              </a:rPr>
              <a:t>عمق استشاري مقرون بتنفيذ فعلي</a:t>
            </a:r>
            <a:endParaRPr b="1" sz="1100">
              <a:solidFill>
                <a:schemeClr val="dk1"/>
              </a:solidFill>
            </a:endParaRPr>
          </a:p>
          <a:p>
            <a:pPr indent="0" lvl="0" marL="0" rtl="1" algn="r">
              <a:spcBef>
                <a:spcPts val="1200"/>
              </a:spcBef>
              <a:spcAft>
                <a:spcPts val="0"/>
              </a:spcAft>
              <a:buNone/>
            </a:pPr>
            <a:r>
              <a:rPr b="1" lang="en" sz="1100">
                <a:solidFill>
                  <a:schemeClr val="dk1"/>
                </a:solidFill>
              </a:rPr>
              <a:t>خبرة مثبتة في مشاريع التحول المعقدة</a:t>
            </a:r>
            <a:endParaRPr b="1" sz="1100">
              <a:solidFill>
                <a:schemeClr val="dk1"/>
              </a:solidFill>
            </a:endParaRPr>
          </a:p>
          <a:p>
            <a:pPr indent="0" lvl="0" marL="0" rtl="1" algn="r">
              <a:spcBef>
                <a:spcPts val="1200"/>
              </a:spcBef>
              <a:spcAft>
                <a:spcPts val="0"/>
              </a:spcAft>
              <a:buNone/>
            </a:pPr>
            <a:r>
              <a:rPr b="1" lang="en" sz="1100">
                <a:solidFill>
                  <a:schemeClr val="dk1"/>
                </a:solidFill>
              </a:rPr>
              <a:t>تركيز واضح على قياس الأثر وربط الجهد بالنتيجة</a:t>
            </a:r>
            <a:endParaRPr b="1" sz="1100">
              <a:solidFill>
                <a:schemeClr val="dk1"/>
              </a:solidFill>
            </a:endParaRPr>
          </a:p>
          <a:p>
            <a:pPr indent="0" lvl="0" marL="0" rtl="1" algn="r">
              <a:spcBef>
                <a:spcPts val="1200"/>
              </a:spcBef>
              <a:spcAft>
                <a:spcPts val="0"/>
              </a:spcAft>
              <a:buNone/>
            </a:pPr>
            <a:r>
              <a:rPr b="1" lang="en" sz="1100">
                <a:solidFill>
                  <a:schemeClr val="dk1"/>
                </a:solidFill>
              </a:rPr>
              <a:t>فهم دقيق لبيئة العمل في القطاع شبه الحكومي والخاص</a:t>
            </a:r>
            <a:endParaRPr b="1" sz="1100">
              <a:solidFill>
                <a:schemeClr val="dk1"/>
              </a:solidFill>
            </a:endParaRPr>
          </a:p>
          <a:p>
            <a:pPr indent="0" lvl="0" marL="0" rtl="1" algn="r">
              <a:spcBef>
                <a:spcPts val="1200"/>
              </a:spcBef>
              <a:spcAft>
                <a:spcPts val="0"/>
              </a:spcAft>
              <a:buNone/>
            </a:pPr>
            <a:r>
              <a:rPr b="1" lang="en" sz="1100">
                <a:solidFill>
                  <a:schemeClr val="dk1"/>
                </a:solidFill>
              </a:rPr>
              <a:t>التزام صارم بالحوكمة المهنية والسرية</a:t>
            </a:r>
            <a:endParaRPr b="1" sz="1100">
              <a:solidFill>
                <a:schemeClr val="dk1"/>
              </a:solidFill>
            </a:endParaRPr>
          </a:p>
          <a:p>
            <a:pPr indent="0" lvl="0" marL="0" rtl="1" algn="r">
              <a:spcBef>
                <a:spcPts val="1200"/>
              </a:spcBef>
              <a:spcAft>
                <a:spcPts val="1200"/>
              </a:spcAft>
              <a:buNone/>
            </a:pPr>
            <a:r>
              <a:t/>
            </a:r>
            <a:endParaRPr b="1" sz="1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1" algn="ctr">
              <a:spcBef>
                <a:spcPts val="0"/>
              </a:spcBef>
              <a:spcAft>
                <a:spcPts val="0"/>
              </a:spcAft>
              <a:buNone/>
            </a:pPr>
            <a:r>
              <a:rPr lang="en"/>
              <a:t>غلاف</a:t>
            </a:r>
            <a:endParaRPr/>
          </a:p>
        </p:txBody>
      </p:sp>
      <p:sp>
        <p:nvSpPr>
          <p:cNvPr id="157" name="Google Shape;15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1" algn="r">
              <a:spcBef>
                <a:spcPts val="0"/>
              </a:spcBef>
              <a:spcAft>
                <a:spcPts val="0"/>
              </a:spcAft>
              <a:buNone/>
            </a:pPr>
            <a:r>
              <a:rPr lang="en"/>
              <a:t>جدارة الأداء</a:t>
            </a:r>
            <a:endParaRPr/>
          </a:p>
          <a:p>
            <a:pPr indent="0" lvl="0" marL="0" rtl="0" algn="l">
              <a:spcBef>
                <a:spcPts val="1200"/>
              </a:spcBef>
              <a:spcAft>
                <a:spcPts val="0"/>
              </a:spcAft>
              <a:buNone/>
            </a:pPr>
            <a:r>
              <a:rPr lang="en"/>
              <a:t>Strategic Advisory &amp; Institutional Transformation</a:t>
            </a:r>
            <a:endParaRPr/>
          </a:p>
          <a:p>
            <a:pPr indent="0" lvl="0" marL="0" rtl="0" algn="l">
              <a:spcBef>
                <a:spcPts val="1200"/>
              </a:spcBef>
              <a:spcAft>
                <a:spcPts val="0"/>
              </a:spcAft>
              <a:buClr>
                <a:schemeClr val="dk1"/>
              </a:buClr>
              <a:buSzPts val="1100"/>
              <a:buFont typeface="Arial"/>
              <a:buNone/>
            </a:pPr>
            <a:r>
              <a:t/>
            </a:r>
            <a:endParaRPr/>
          </a:p>
          <a:p>
            <a:pPr indent="0" lvl="0" marL="0" rtl="1" algn="r">
              <a:spcBef>
                <a:spcPts val="1200"/>
              </a:spcBef>
              <a:spcAft>
                <a:spcPts val="0"/>
              </a:spcAft>
              <a:buClr>
                <a:schemeClr val="dk1"/>
              </a:buClr>
              <a:buSzPts val="1100"/>
              <a:buFont typeface="Arial"/>
              <a:buNone/>
            </a:pPr>
            <a:r>
              <a:rPr lang="en"/>
              <a:t>نعمل مع شركائنا على تصميم وتنفيذ حلول مؤسسية متكاملة تربط الاستراتيجية بالتنفيذ، وتعزز جاهزية القيادات، وترفع كفاءة الأداء ضمن إطار منهجي قائم على القياس والاستدامة.</a:t>
            </a:r>
            <a:endParaRPr/>
          </a:p>
          <a:p>
            <a:pPr indent="0" lvl="0" marL="0" rtl="1" algn="r">
              <a:spcBef>
                <a:spcPts val="1200"/>
              </a:spcBef>
              <a:spcAft>
                <a:spcPts val="0"/>
              </a:spcAft>
              <a:buNone/>
            </a:pPr>
            <a:r>
              <a:t/>
            </a:r>
            <a:endParaRPr/>
          </a:p>
          <a:p>
            <a:pPr indent="0" lvl="0" marL="0" rtl="1" algn="r">
              <a:spcBef>
                <a:spcPts val="1200"/>
              </a:spcBef>
              <a:spcAft>
                <a:spcPts val="0"/>
              </a:spcAft>
              <a:buNone/>
            </a:pPr>
            <a:r>
              <a:t/>
            </a:r>
            <a:endParaRPr/>
          </a:p>
          <a:p>
            <a:pPr indent="0" lvl="0" marL="0" rtl="1" algn="r">
              <a:spcBef>
                <a:spcPts val="1200"/>
              </a:spcBef>
              <a:spcAft>
                <a:spcPts val="1200"/>
              </a:spcAft>
              <a:buNone/>
            </a:pPr>
            <a:r>
              <a:rPr lang="en"/>
              <a:t>بيانات التواصل: الايميل - رقم الجوال - المقر - الموقع الالكتروني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